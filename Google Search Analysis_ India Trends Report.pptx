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Liter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rod.website-files.com/d000094f2407424a3d78b76fac2c67badfff47fe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8429" b="1842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85000"/>
                </a:srgbClr>
              </a:gs>
              <a:gs pos="100000">
                <a:srgbClr val="C75B4A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314450"/>
            <a:ext cx="3057525" cy="381000"/>
          </a:xfrm>
          <a:custGeom>
            <a:avLst/>
            <a:gdLst/>
            <a:ahLst/>
            <a:cxnLst/>
            <a:rect l="l" t="t" r="r" b="b"/>
            <a:pathLst>
              <a:path w="3057525" h="381000">
                <a:moveTo>
                  <a:pt x="0" y="0"/>
                </a:moveTo>
                <a:lnTo>
                  <a:pt x="3057525" y="0"/>
                </a:lnTo>
                <a:lnTo>
                  <a:pt x="3057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314450"/>
            <a:ext cx="313372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INTELLIGENCE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288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Search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719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1485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 Trends Report: October 23-30, 2024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575" y="52957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0" name="Text 7"/>
          <p:cNvSpPr/>
          <p:nvPr/>
        </p:nvSpPr>
        <p:spPr>
          <a:xfrm>
            <a:off x="781050" y="5276731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1,439 Trending Topics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12864" y="529578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2" name="Text 9"/>
          <p:cNvSpPr/>
          <p:nvPr/>
        </p:nvSpPr>
        <p:spPr>
          <a:xfrm>
            <a:off x="3312914" y="5276731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36M+ Total Search Volume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52450" y="1600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5400" y="1714500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Landscape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2479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analysis of India's digital search ecosystem, scale metrics, and volume distribution patterns across 1,439 trending queries.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1250" y="13716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1250" y="13716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600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43650" y="16002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714500"/>
            <a:ext cx="1971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Dominance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2479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 into cricket's commanding presence with 13.5M+ searches, international matches, and sporting event trends.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1242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0050" y="31242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52450" y="3352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" y="3467100"/>
            <a:ext cx="2305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&amp; Investment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40005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movements, IPO frenzies, precious metals interest, and the 4.3M+ search volume driving financial curiosity.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91250" y="31242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1250" y="31242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3352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5" name="Text 23"/>
          <p:cNvSpPr/>
          <p:nvPr/>
        </p:nvSpPr>
        <p:spPr>
          <a:xfrm>
            <a:off x="6343650" y="3352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3467100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Season Impact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40005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 and Dhanteras driving 2.6M+ searches, cultural celebrations, and seasonal search behavior patterns.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8768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00050" y="48768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5105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552450" y="51054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5400" y="5219700"/>
            <a:ext cx="3000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&amp; Technology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" y="57531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Movies, OTT platforms, tech adoption, and the digital transformation reflected in search behavior.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1250" y="4876800"/>
            <a:ext cx="5619750" cy="1600200"/>
          </a:xfrm>
          <a:custGeom>
            <a:avLst/>
            <a:gdLst/>
            <a:ahLst/>
            <a:cxnLst/>
            <a:rect l="l" t="t" r="r" b="b"/>
            <a:pathLst>
              <a:path w="5619750" h="160020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23998"/>
                </a:lnTo>
                <a:cubicBezTo>
                  <a:pt x="5619750" y="1566083"/>
                  <a:pt x="5585633" y="1600200"/>
                  <a:pt x="55435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1250" y="48768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0" y="5105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7" name="Text 35"/>
          <p:cNvSpPr/>
          <p:nvPr/>
        </p:nvSpPr>
        <p:spPr>
          <a:xfrm>
            <a:off x="6343650" y="51054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600" y="5219700"/>
            <a:ext cx="2828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Implications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0" y="5753100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takeaways, consumer behavior patterns, and actionable intelligence for businesses and marketers.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cyfe.com/56ea6ffb00a728e1ed68e4d5db68595b282ae301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3216" r="3216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8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552575"/>
            <a:ext cx="52482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000375"/>
            <a:ext cx="49244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Landscape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6577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5000625"/>
            <a:ext cx="475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India's Digital Search Behavior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LANDSCAPE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Scale of Indian Search Activity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6353175" cy="5257800"/>
          </a:xfrm>
          <a:custGeom>
            <a:avLst/>
            <a:gdLst/>
            <a:ahLst/>
            <a:cxnLst/>
            <a:rect l="l" t="t" r="r" b="b"/>
            <a:pathLst>
              <a:path w="6353175" h="5257800">
                <a:moveTo>
                  <a:pt x="76186" y="0"/>
                </a:moveTo>
                <a:lnTo>
                  <a:pt x="6276989" y="0"/>
                </a:lnTo>
                <a:cubicBezTo>
                  <a:pt x="6319066" y="0"/>
                  <a:pt x="6353175" y="34109"/>
                  <a:pt x="6353175" y="76186"/>
                </a:cubicBezTo>
                <a:lnTo>
                  <a:pt x="6353175" y="5181614"/>
                </a:lnTo>
                <a:cubicBezTo>
                  <a:pt x="6353175" y="5223691"/>
                  <a:pt x="6319066" y="5257800"/>
                  <a:pt x="6276989" y="5257800"/>
                </a:cubicBezTo>
                <a:lnTo>
                  <a:pt x="76186" y="5257800"/>
                </a:lnTo>
                <a:cubicBezTo>
                  <a:pt x="34109" y="5257800"/>
                  <a:pt x="0" y="5223691"/>
                  <a:pt x="0" y="51816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1500" y="1409700"/>
            <a:ext cx="606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Search Volume by Category</a:t>
            </a:r>
            <a:endParaRPr lang="en-US" sz="1600" dirty="0"/>
          </a:p>
        </p:txBody>
      </p:sp>
      <p:pic>
        <p:nvPicPr>
          <p:cNvPr id="6" name="Image 0" descr="https://kimi-img.moonshot.cn/pub/slides/26-02-28-04:20:55-d6gvp9vpma9n9o0vjle0.png">    </p:cNvPr>
          <p:cNvPicPr>
            <a:picLocks noChangeAspect="1"/>
          </p:cNvPicPr>
          <p:nvPr/>
        </p:nvPicPr>
        <p:blipFill>
          <a:blip r:embed="rId1"/>
          <a:srcRect l="0" r="0" t="48" b="48"/>
          <a:stretch/>
        </p:blipFill>
        <p:spPr>
          <a:xfrm>
            <a:off x="571500" y="1828800"/>
            <a:ext cx="5972175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924675" y="1219200"/>
            <a:ext cx="4886325" cy="2428875"/>
          </a:xfrm>
          <a:custGeom>
            <a:avLst/>
            <a:gdLst/>
            <a:ahLst/>
            <a:cxnLst/>
            <a:rect l="l" t="t" r="r" b="b"/>
            <a:pathLst>
              <a:path w="4886325" h="2428875">
                <a:moveTo>
                  <a:pt x="76194" y="0"/>
                </a:moveTo>
                <a:lnTo>
                  <a:pt x="4810131" y="0"/>
                </a:lnTo>
                <a:cubicBezTo>
                  <a:pt x="4852212" y="0"/>
                  <a:pt x="4886325" y="34113"/>
                  <a:pt x="4886325" y="76194"/>
                </a:cubicBezTo>
                <a:lnTo>
                  <a:pt x="4886325" y="2352681"/>
                </a:lnTo>
                <a:cubicBezTo>
                  <a:pt x="4886325" y="2394762"/>
                  <a:pt x="4852212" y="2428875"/>
                  <a:pt x="4810131" y="2428875"/>
                </a:cubicBezTo>
                <a:lnTo>
                  <a:pt x="76194" y="2428875"/>
                </a:lnTo>
                <a:cubicBezTo>
                  <a:pt x="34113" y="2428875"/>
                  <a:pt x="0" y="2394762"/>
                  <a:pt x="0" y="23526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7115175" y="1409700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63325" y="1428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0" name="Text 7"/>
          <p:cNvSpPr/>
          <p:nvPr/>
        </p:nvSpPr>
        <p:spPr>
          <a:xfrm>
            <a:off x="7115175" y="1851661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Topics Analyzed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70193" y="17907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1,439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15175" y="2171581"/>
            <a:ext cx="4505325" cy="9525"/>
          </a:xfrm>
          <a:custGeom>
            <a:avLst/>
            <a:gdLst/>
            <a:ahLst/>
            <a:cxnLst/>
            <a:rect l="l" t="t" r="r" b="b"/>
            <a:pathLst>
              <a:path w="4505325" h="9525">
                <a:moveTo>
                  <a:pt x="0" y="0"/>
                </a:moveTo>
                <a:lnTo>
                  <a:pt x="4505325" y="0"/>
                </a:lnTo>
                <a:lnTo>
                  <a:pt x="4505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115175" y="2280165"/>
            <a:ext cx="110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Period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348794" y="2257306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Oct 23-30, 2024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115175" y="2600206"/>
            <a:ext cx="4505325" cy="9525"/>
          </a:xfrm>
          <a:custGeom>
            <a:avLst/>
            <a:gdLst/>
            <a:ahLst/>
            <a:cxnLst/>
            <a:rect l="l" t="t" r="r" b="b"/>
            <a:pathLst>
              <a:path w="4505325" h="9525">
                <a:moveTo>
                  <a:pt x="0" y="0"/>
                </a:moveTo>
                <a:lnTo>
                  <a:pt x="4505325" y="0"/>
                </a:lnTo>
                <a:lnTo>
                  <a:pt x="4505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115175" y="274689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Single Query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58181" y="2685931"/>
            <a:ext cx="581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5M+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15175" y="3066813"/>
            <a:ext cx="4505325" cy="9525"/>
          </a:xfrm>
          <a:custGeom>
            <a:avLst/>
            <a:gdLst/>
            <a:ahLst/>
            <a:cxnLst/>
            <a:rect l="l" t="t" r="r" b="b"/>
            <a:pathLst>
              <a:path w="4505325" h="9525">
                <a:moveTo>
                  <a:pt x="0" y="0"/>
                </a:moveTo>
                <a:lnTo>
                  <a:pt x="4505325" y="0"/>
                </a:lnTo>
                <a:lnTo>
                  <a:pt x="4505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115175" y="3213497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Volume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018282" y="3152538"/>
            <a:ext cx="714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36M+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924675" y="3800119"/>
            <a:ext cx="4886325" cy="2676525"/>
          </a:xfrm>
          <a:custGeom>
            <a:avLst/>
            <a:gdLst/>
            <a:ahLst/>
            <a:cxnLst/>
            <a:rect l="l" t="t" r="r" b="b"/>
            <a:pathLst>
              <a:path w="4886325" h="2676525">
                <a:moveTo>
                  <a:pt x="76201" y="0"/>
                </a:moveTo>
                <a:lnTo>
                  <a:pt x="4810124" y="0"/>
                </a:lnTo>
                <a:cubicBezTo>
                  <a:pt x="4852209" y="0"/>
                  <a:pt x="4886325" y="34116"/>
                  <a:pt x="4886325" y="76201"/>
                </a:cubicBezTo>
                <a:lnTo>
                  <a:pt x="4886325" y="2600324"/>
                </a:lnTo>
                <a:cubicBezTo>
                  <a:pt x="4886325" y="2642409"/>
                  <a:pt x="4852209" y="2676525"/>
                  <a:pt x="4810124" y="2676525"/>
                </a:cubicBezTo>
                <a:lnTo>
                  <a:pt x="76201" y="2676525"/>
                </a:lnTo>
                <a:cubicBezTo>
                  <a:pt x="34116" y="2676525"/>
                  <a:pt x="0" y="2642409"/>
                  <a:pt x="0" y="26003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15175" y="43765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Distribution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15175" y="48146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4" name="Text 21"/>
          <p:cNvSpPr/>
          <p:nvPr/>
        </p:nvSpPr>
        <p:spPr>
          <a:xfrm>
            <a:off x="7305675" y="4757500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905530" y="475750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229 topics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15175" y="51194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7" name="Text 24"/>
          <p:cNvSpPr/>
          <p:nvPr/>
        </p:nvSpPr>
        <p:spPr>
          <a:xfrm>
            <a:off x="7305675" y="506230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934462" y="50623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142 topics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115175" y="5424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2D2D"/>
          </a:solidFill>
          <a:ln/>
        </p:spPr>
      </p:sp>
      <p:sp>
        <p:nvSpPr>
          <p:cNvPr id="30" name="Text 27"/>
          <p:cNvSpPr/>
          <p:nvPr/>
        </p:nvSpPr>
        <p:spPr>
          <a:xfrm>
            <a:off x="7305675" y="53671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0996256" y="53671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54 topics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115175" y="5729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66666"/>
          </a:solidFill>
          <a:ln/>
        </p:spPr>
      </p:sp>
      <p:sp>
        <p:nvSpPr>
          <p:cNvPr id="33" name="Text 30"/>
          <p:cNvSpPr/>
          <p:nvPr/>
        </p:nvSpPr>
        <p:spPr>
          <a:xfrm>
            <a:off x="7305675" y="5671900"/>
            <a:ext cx="86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0996017" y="567190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 topics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LANDSCAPE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Volume Distribution Patterns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6896100" cy="5257800"/>
          </a:xfrm>
          <a:custGeom>
            <a:avLst/>
            <a:gdLst/>
            <a:ahLst/>
            <a:cxnLst/>
            <a:rect l="l" t="t" r="r" b="b"/>
            <a:pathLst>
              <a:path w="6896100" h="5257800">
                <a:moveTo>
                  <a:pt x="76186" y="0"/>
                </a:moveTo>
                <a:lnTo>
                  <a:pt x="6819914" y="0"/>
                </a:lnTo>
                <a:cubicBezTo>
                  <a:pt x="6861991" y="0"/>
                  <a:pt x="6896100" y="34109"/>
                  <a:pt x="6896100" y="76186"/>
                </a:cubicBezTo>
                <a:lnTo>
                  <a:pt x="6896100" y="5181614"/>
                </a:lnTo>
                <a:cubicBezTo>
                  <a:pt x="6896100" y="5223691"/>
                  <a:pt x="6861991" y="5257800"/>
                  <a:pt x="6819914" y="5257800"/>
                </a:cubicBezTo>
                <a:lnTo>
                  <a:pt x="76186" y="5257800"/>
                </a:lnTo>
                <a:cubicBezTo>
                  <a:pt x="34109" y="5257800"/>
                  <a:pt x="0" y="5223691"/>
                  <a:pt x="0" y="518161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1500" y="1409700"/>
            <a:ext cx="661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Volume Pyramid: Query Distribution Across Tiers</a:t>
            </a:r>
            <a:endParaRPr lang="en-US" sz="1600" dirty="0"/>
          </a:p>
        </p:txBody>
      </p:sp>
      <p:pic>
        <p:nvPicPr>
          <p:cNvPr id="6" name="Image 0" descr="https://kimi-img.moonshot.cn/pub/slides/26-02-28-04:20:56-d6gvpa1g4pnuptrjldg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" y="1828800"/>
            <a:ext cx="6515100" cy="361950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467600" y="1219200"/>
            <a:ext cx="4343400" cy="5257800"/>
          </a:xfrm>
          <a:custGeom>
            <a:avLst/>
            <a:gdLst/>
            <a:ahLst/>
            <a:cxnLst/>
            <a:rect l="l" t="t" r="r" b="b"/>
            <a:pathLst>
              <a:path w="4343400" h="5257800">
                <a:moveTo>
                  <a:pt x="76183" y="0"/>
                </a:moveTo>
                <a:lnTo>
                  <a:pt x="4267217" y="0"/>
                </a:lnTo>
                <a:cubicBezTo>
                  <a:pt x="4309292" y="0"/>
                  <a:pt x="4343400" y="34108"/>
                  <a:pt x="4343400" y="76183"/>
                </a:cubicBezTo>
                <a:lnTo>
                  <a:pt x="4343400" y="5181617"/>
                </a:lnTo>
                <a:cubicBezTo>
                  <a:pt x="4343400" y="5223692"/>
                  <a:pt x="4309292" y="5257800"/>
                  <a:pt x="4267217" y="5257800"/>
                </a:cubicBezTo>
                <a:lnTo>
                  <a:pt x="76183" y="5257800"/>
                </a:lnTo>
                <a:cubicBezTo>
                  <a:pt x="34108" y="5257800"/>
                  <a:pt x="0" y="5223692"/>
                  <a:pt x="0" y="5181617"/>
                </a:cubicBezTo>
                <a:lnTo>
                  <a:pt x="0" y="76183"/>
                </a:lnTo>
                <a:cubicBezTo>
                  <a:pt x="0" y="34137"/>
                  <a:pt x="34137" y="0"/>
                  <a:pt x="76183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7658100" y="1409700"/>
            <a:ext cx="405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 Tier Analysis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58100" y="1828800"/>
            <a:ext cx="3962400" cy="723900"/>
          </a:xfrm>
          <a:custGeom>
            <a:avLst/>
            <a:gdLst/>
            <a:ahLst/>
            <a:cxnLst/>
            <a:rect l="l" t="t" r="r" b="b"/>
            <a:pathLst>
              <a:path w="3962400" h="723900">
                <a:moveTo>
                  <a:pt x="38099" y="0"/>
                </a:moveTo>
                <a:lnTo>
                  <a:pt x="3924301" y="0"/>
                </a:lnTo>
                <a:cubicBezTo>
                  <a:pt x="3945328" y="0"/>
                  <a:pt x="3962400" y="17072"/>
                  <a:pt x="3962400" y="38099"/>
                </a:cubicBezTo>
                <a:lnTo>
                  <a:pt x="3962400" y="685801"/>
                </a:lnTo>
                <a:cubicBezTo>
                  <a:pt x="3962400" y="706828"/>
                  <a:pt x="3945328" y="723900"/>
                  <a:pt x="3924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97358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Ultra-High (1M+)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389162" y="19431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0" y="2247900"/>
            <a:ext cx="3800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Massive events: Cricket matches, major IPOs, festivals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58100" y="2628900"/>
            <a:ext cx="3962400" cy="723900"/>
          </a:xfrm>
          <a:custGeom>
            <a:avLst/>
            <a:gdLst/>
            <a:ahLst/>
            <a:cxnLst/>
            <a:rect l="l" t="t" r="r" b="b"/>
            <a:pathLst>
              <a:path w="3962400" h="723900">
                <a:moveTo>
                  <a:pt x="38099" y="0"/>
                </a:moveTo>
                <a:lnTo>
                  <a:pt x="3924301" y="0"/>
                </a:lnTo>
                <a:cubicBezTo>
                  <a:pt x="3945328" y="0"/>
                  <a:pt x="3962400" y="17072"/>
                  <a:pt x="3962400" y="38099"/>
                </a:cubicBezTo>
                <a:lnTo>
                  <a:pt x="3962400" y="685801"/>
                </a:lnTo>
                <a:cubicBezTo>
                  <a:pt x="3962400" y="706828"/>
                  <a:pt x="3945328" y="723900"/>
                  <a:pt x="3924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277368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Very High (500K+)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308438" y="274320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0" y="3048000"/>
            <a:ext cx="3800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interest: Sports, gold prices, entertainment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58100" y="3429000"/>
            <a:ext cx="3962400" cy="723900"/>
          </a:xfrm>
          <a:custGeom>
            <a:avLst/>
            <a:gdLst/>
            <a:ahLst/>
            <a:cxnLst/>
            <a:rect l="l" t="t" r="r" b="b"/>
            <a:pathLst>
              <a:path w="3962400" h="723900">
                <a:moveTo>
                  <a:pt x="38099" y="0"/>
                </a:moveTo>
                <a:lnTo>
                  <a:pt x="3924301" y="0"/>
                </a:lnTo>
                <a:cubicBezTo>
                  <a:pt x="3945328" y="0"/>
                  <a:pt x="3962400" y="17072"/>
                  <a:pt x="3962400" y="38099"/>
                </a:cubicBezTo>
                <a:lnTo>
                  <a:pt x="3962400" y="685801"/>
                </a:lnTo>
                <a:cubicBezTo>
                  <a:pt x="3962400" y="706828"/>
                  <a:pt x="3945328" y="723900"/>
                  <a:pt x="3924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0" y="357378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(100K+)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282482" y="3543300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59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72400" y="3848100"/>
            <a:ext cx="3800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engagement: Movies, exams, news events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58100" y="4229100"/>
            <a:ext cx="3962400" cy="723900"/>
          </a:xfrm>
          <a:custGeom>
            <a:avLst/>
            <a:gdLst/>
            <a:ahLst/>
            <a:cxnLst/>
            <a:rect l="l" t="t" r="r" b="b"/>
            <a:pathLst>
              <a:path w="3962400" h="723900">
                <a:moveTo>
                  <a:pt x="38099" y="0"/>
                </a:moveTo>
                <a:lnTo>
                  <a:pt x="3924301" y="0"/>
                </a:lnTo>
                <a:cubicBezTo>
                  <a:pt x="3945328" y="0"/>
                  <a:pt x="3962400" y="17072"/>
                  <a:pt x="3962400" y="38099"/>
                </a:cubicBezTo>
                <a:lnTo>
                  <a:pt x="3962400" y="685801"/>
                </a:lnTo>
                <a:cubicBezTo>
                  <a:pt x="3962400" y="706828"/>
                  <a:pt x="3945328" y="723900"/>
                  <a:pt x="3924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437388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 (10K+)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94495" y="4343400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72400" y="4648200"/>
            <a:ext cx="3800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Steady interest: Diverse topics across categories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58100" y="5029200"/>
            <a:ext cx="3962400" cy="723900"/>
          </a:xfrm>
          <a:custGeom>
            <a:avLst/>
            <a:gdLst/>
            <a:ahLst/>
            <a:cxnLst/>
            <a:rect l="l" t="t" r="r" b="b"/>
            <a:pathLst>
              <a:path w="3962400" h="723900">
                <a:moveTo>
                  <a:pt x="38099" y="0"/>
                </a:moveTo>
                <a:lnTo>
                  <a:pt x="3924301" y="0"/>
                </a:lnTo>
                <a:cubicBezTo>
                  <a:pt x="3945328" y="0"/>
                  <a:pt x="3962400" y="17072"/>
                  <a:pt x="3962400" y="38099"/>
                </a:cubicBezTo>
                <a:lnTo>
                  <a:pt x="3962400" y="685801"/>
                </a:lnTo>
                <a:cubicBezTo>
                  <a:pt x="3962400" y="706828"/>
                  <a:pt x="3945328" y="723900"/>
                  <a:pt x="3924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0" y="517398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 Tail (Under 10K)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101744" y="514350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1,172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772400" y="5448300"/>
            <a:ext cx="3800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Niche queries: Specific interests, local events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gettyimages.com/edb40130e389d0cc339e83317ec710eeacd480a7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6494" b="649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8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552575"/>
            <a:ext cx="60483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000375"/>
            <a:ext cx="57245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Dominance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6577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5000625"/>
            <a:ext cx="555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Cricket, Football &amp; Beyond: India's Sporting Obsession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DOMINANCE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Sports: The Undisputed Search Leader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5972175" cy="2343150"/>
          </a:xfrm>
          <a:custGeom>
            <a:avLst/>
            <a:gdLst/>
            <a:ahLst/>
            <a:cxnLst/>
            <a:rect l="l" t="t" r="r" b="b"/>
            <a:pathLst>
              <a:path w="5972175" h="2343150">
                <a:moveTo>
                  <a:pt x="76199" y="0"/>
                </a:moveTo>
                <a:lnTo>
                  <a:pt x="5895976" y="0"/>
                </a:lnTo>
                <a:cubicBezTo>
                  <a:pt x="5938059" y="0"/>
                  <a:pt x="5972175" y="34116"/>
                  <a:pt x="5972175" y="76199"/>
                </a:cubicBezTo>
                <a:lnTo>
                  <a:pt x="5972175" y="2266951"/>
                </a:lnTo>
                <a:cubicBezTo>
                  <a:pt x="5972175" y="2309034"/>
                  <a:pt x="5938059" y="2343150"/>
                  <a:pt x="5895976" y="2343150"/>
                </a:cubicBezTo>
                <a:lnTo>
                  <a:pt x="76199" y="2343150"/>
                </a:lnTo>
                <a:cubicBezTo>
                  <a:pt x="34116" y="2343150"/>
                  <a:pt x="0" y="2309034"/>
                  <a:pt x="0" y="22669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71500" y="1409700"/>
            <a:ext cx="2924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Category Leadership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43588" y="141910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5"/>
          <p:cNvSpPr/>
          <p:nvPr/>
        </p:nvSpPr>
        <p:spPr>
          <a:xfrm>
            <a:off x="485775" y="1866784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8163" y="2285884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00300" y="1866784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13.5M+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2688" y="2285884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14825" y="1866784"/>
            <a:ext cx="1933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67213" y="2285884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" y="2628784"/>
            <a:ext cx="56673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dominates India's search landscape with cricket commanding the highest volumes. International matches, IPL discussions, and women's cricket growth drive massive engagement.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714634"/>
            <a:ext cx="5972175" cy="2952750"/>
          </a:xfrm>
          <a:custGeom>
            <a:avLst/>
            <a:gdLst/>
            <a:ahLst/>
            <a:cxnLst/>
            <a:rect l="l" t="t" r="r" b="b"/>
            <a:pathLst>
              <a:path w="5972175" h="2952750">
                <a:moveTo>
                  <a:pt x="76210" y="0"/>
                </a:moveTo>
                <a:lnTo>
                  <a:pt x="5895965" y="0"/>
                </a:lnTo>
                <a:cubicBezTo>
                  <a:pt x="5938054" y="0"/>
                  <a:pt x="5972175" y="34121"/>
                  <a:pt x="5972175" y="76210"/>
                </a:cubicBezTo>
                <a:lnTo>
                  <a:pt x="5972175" y="2876540"/>
                </a:lnTo>
                <a:cubicBezTo>
                  <a:pt x="5972175" y="2918629"/>
                  <a:pt x="5938054" y="2952750"/>
                  <a:pt x="5895965" y="2952750"/>
                </a:cubicBezTo>
                <a:lnTo>
                  <a:pt x="76210" y="2952750"/>
                </a:lnTo>
                <a:cubicBezTo>
                  <a:pt x="34121" y="2952750"/>
                  <a:pt x="0" y="2918629"/>
                  <a:pt x="0" y="28765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" y="3905134"/>
            <a:ext cx="568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Category Breakdown</a:t>
            </a:r>
            <a:endParaRPr lang="en-US" sz="1600" dirty="0"/>
          </a:p>
        </p:txBody>
      </p:sp>
      <p:pic>
        <p:nvPicPr>
          <p:cNvPr id="16" name="Image 0" descr="https://kimi-img.moonshot.cn/pub/slides/26-02-28-04:20:56-d6gvpa25hvlh8v6t76q0.png">    </p:cNvPr>
          <p:cNvPicPr>
            <a:picLocks noChangeAspect="1"/>
          </p:cNvPicPr>
          <p:nvPr/>
        </p:nvPicPr>
        <p:blipFill>
          <a:blip r:embed="rId1"/>
          <a:srcRect l="0" r="0" t="51" b="51"/>
          <a:stretch/>
        </p:blipFill>
        <p:spPr>
          <a:xfrm>
            <a:off x="571500" y="4324234"/>
            <a:ext cx="5591175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6543675" y="1219200"/>
            <a:ext cx="5267325" cy="5448300"/>
          </a:xfrm>
          <a:custGeom>
            <a:avLst/>
            <a:gdLst/>
            <a:ahLst/>
            <a:cxnLst/>
            <a:rect l="l" t="t" r="r" b="b"/>
            <a:pathLst>
              <a:path w="5267325" h="5448300">
                <a:moveTo>
                  <a:pt x="76218" y="0"/>
                </a:moveTo>
                <a:lnTo>
                  <a:pt x="5191107" y="0"/>
                </a:lnTo>
                <a:cubicBezTo>
                  <a:pt x="5233201" y="0"/>
                  <a:pt x="5267325" y="34124"/>
                  <a:pt x="5267325" y="76218"/>
                </a:cubicBezTo>
                <a:lnTo>
                  <a:pt x="5267325" y="5372082"/>
                </a:lnTo>
                <a:cubicBezTo>
                  <a:pt x="5267325" y="5414176"/>
                  <a:pt x="5233201" y="5448300"/>
                  <a:pt x="5191107" y="5448300"/>
                </a:cubicBezTo>
                <a:lnTo>
                  <a:pt x="76218" y="5448300"/>
                </a:lnTo>
                <a:cubicBezTo>
                  <a:pt x="34124" y="5448300"/>
                  <a:pt x="0" y="5414176"/>
                  <a:pt x="0" y="5372082"/>
                </a:cubicBezTo>
                <a:lnTo>
                  <a:pt x="0" y="76218"/>
                </a:lnTo>
                <a:cubicBezTo>
                  <a:pt x="0" y="34124"/>
                  <a:pt x="34124" y="0"/>
                  <a:pt x="7621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34175" y="1409700"/>
            <a:ext cx="498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Sports Queries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753225" y="1828800"/>
            <a:ext cx="4867275" cy="647700"/>
          </a:xfrm>
          <a:custGeom>
            <a:avLst/>
            <a:gdLst/>
            <a:ahLst/>
            <a:cxnLst/>
            <a:rect l="l" t="t" r="r" b="b"/>
            <a:pathLst>
              <a:path w="4867275" h="647700">
                <a:moveTo>
                  <a:pt x="0" y="0"/>
                </a:moveTo>
                <a:lnTo>
                  <a:pt x="4867275" y="0"/>
                </a:lnTo>
                <a:lnTo>
                  <a:pt x="48672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0" name="Shape 17"/>
          <p:cNvSpPr/>
          <p:nvPr/>
        </p:nvSpPr>
        <p:spPr>
          <a:xfrm>
            <a:off x="6753225" y="1828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1" name="Text 18"/>
          <p:cNvSpPr/>
          <p:nvPr/>
        </p:nvSpPr>
        <p:spPr>
          <a:xfrm>
            <a:off x="6924675" y="1935482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Zealand vs India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235214" y="19050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5M+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24675" y="22098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match series - peak interest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753225" y="2590800"/>
            <a:ext cx="4867275" cy="647700"/>
          </a:xfrm>
          <a:custGeom>
            <a:avLst/>
            <a:gdLst/>
            <a:ahLst/>
            <a:cxnLst/>
            <a:rect l="l" t="t" r="r" b="b"/>
            <a:pathLst>
              <a:path w="4867275" h="647700">
                <a:moveTo>
                  <a:pt x="0" y="0"/>
                </a:moveTo>
                <a:lnTo>
                  <a:pt x="4867275" y="0"/>
                </a:lnTo>
                <a:lnTo>
                  <a:pt x="48672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5" name="Shape 22"/>
          <p:cNvSpPr/>
          <p:nvPr/>
        </p:nvSpPr>
        <p:spPr>
          <a:xfrm>
            <a:off x="6753225" y="2590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6" name="Text 23"/>
          <p:cNvSpPr/>
          <p:nvPr/>
        </p:nvSpPr>
        <p:spPr>
          <a:xfrm>
            <a:off x="6924675" y="2697482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NZ Women vs India Women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234262" y="2667000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2M+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24675" y="29718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Women's cricket rising popularity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753225" y="3352800"/>
            <a:ext cx="4867275" cy="647700"/>
          </a:xfrm>
          <a:custGeom>
            <a:avLst/>
            <a:gdLst/>
            <a:ahLst/>
            <a:cxnLst/>
            <a:rect l="l" t="t" r="r" b="b"/>
            <a:pathLst>
              <a:path w="4867275" h="647700">
                <a:moveTo>
                  <a:pt x="0" y="0"/>
                </a:moveTo>
                <a:lnTo>
                  <a:pt x="4867275" y="0"/>
                </a:lnTo>
                <a:lnTo>
                  <a:pt x="48672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0" name="Shape 27"/>
          <p:cNvSpPr/>
          <p:nvPr/>
        </p:nvSpPr>
        <p:spPr>
          <a:xfrm>
            <a:off x="6753225" y="3352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1" name="Text 28"/>
          <p:cNvSpPr/>
          <p:nvPr/>
        </p:nvSpPr>
        <p:spPr>
          <a:xfrm>
            <a:off x="6924675" y="3459482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South Africa vs Bangladesh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268790" y="342900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1M+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924675" y="37338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cricket interest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753225" y="4114800"/>
            <a:ext cx="4867275" cy="647700"/>
          </a:xfrm>
          <a:custGeom>
            <a:avLst/>
            <a:gdLst/>
            <a:ahLst/>
            <a:cxnLst/>
            <a:rect l="l" t="t" r="r" b="b"/>
            <a:pathLst>
              <a:path w="4867275" h="647700">
                <a:moveTo>
                  <a:pt x="0" y="0"/>
                </a:moveTo>
                <a:lnTo>
                  <a:pt x="4867275" y="0"/>
                </a:lnTo>
                <a:lnTo>
                  <a:pt x="48672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5" name="Shape 32"/>
          <p:cNvSpPr/>
          <p:nvPr/>
        </p:nvSpPr>
        <p:spPr>
          <a:xfrm>
            <a:off x="6753225" y="4114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6" name="Text 33"/>
          <p:cNvSpPr/>
          <p:nvPr/>
        </p:nvSpPr>
        <p:spPr>
          <a:xfrm>
            <a:off x="6924675" y="4221482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England vs Pakistan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268790" y="419100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1M+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924675" y="44958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series engagement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753225" y="4876800"/>
            <a:ext cx="4867275" cy="647700"/>
          </a:xfrm>
          <a:custGeom>
            <a:avLst/>
            <a:gdLst/>
            <a:ahLst/>
            <a:cxnLst/>
            <a:rect l="l" t="t" r="r" b="b"/>
            <a:pathLst>
              <a:path w="4867275" h="647700">
                <a:moveTo>
                  <a:pt x="0" y="0"/>
                </a:moveTo>
                <a:lnTo>
                  <a:pt x="4867275" y="0"/>
                </a:lnTo>
                <a:lnTo>
                  <a:pt x="48672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0" name="Shape 37"/>
          <p:cNvSpPr/>
          <p:nvPr/>
        </p:nvSpPr>
        <p:spPr>
          <a:xfrm>
            <a:off x="6753225" y="48768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1" name="Text 38"/>
          <p:cNvSpPr/>
          <p:nvPr/>
        </p:nvSpPr>
        <p:spPr>
          <a:xfrm>
            <a:off x="6924675" y="4983482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Madrid vs Barcelona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045905" y="4953000"/>
            <a:ext cx="66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500K+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924675" y="52578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Clasico - football passion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34175" y="5676900"/>
            <a:ext cx="4886325" cy="800100"/>
          </a:xfrm>
          <a:custGeom>
            <a:avLst/>
            <a:gdLst/>
            <a:ahLst/>
            <a:cxnLst/>
            <a:rect l="l" t="t" r="r" b="b"/>
            <a:pathLst>
              <a:path w="4886325" h="800100">
                <a:moveTo>
                  <a:pt x="38101" y="0"/>
                </a:moveTo>
                <a:lnTo>
                  <a:pt x="4848224" y="0"/>
                </a:lnTo>
                <a:cubicBezTo>
                  <a:pt x="4869267" y="0"/>
                  <a:pt x="4886325" y="17058"/>
                  <a:pt x="4886325" y="38101"/>
                </a:cubicBezTo>
                <a:lnTo>
                  <a:pt x="4886325" y="761999"/>
                </a:lnTo>
                <a:cubicBezTo>
                  <a:pt x="4886325" y="783042"/>
                  <a:pt x="4869267" y="800100"/>
                  <a:pt x="4848224" y="800100"/>
                </a:cubicBezTo>
                <a:lnTo>
                  <a:pt x="38101" y="800100"/>
                </a:lnTo>
                <a:cubicBezTo>
                  <a:pt x="17058" y="800100"/>
                  <a:pt x="0" y="783042"/>
                  <a:pt x="0" y="7619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6848475" y="57912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Cricket generates 80%+ of sports search volume, with international matches driving peak interest. Football, kabaddi, and other sports show strong secondary engagement.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spc="55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DOMINANCE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Cricket Frenzy: Match-Specific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350" y="1111521"/>
            <a:ext cx="5661812" cy="2900376"/>
          </a:xfrm>
          <a:custGeom>
            <a:avLst/>
            <a:gdLst/>
            <a:ahLst/>
            <a:cxnLst/>
            <a:rect l="l" t="t" r="r" b="b"/>
            <a:pathLst>
              <a:path w="5661812" h="2900376">
                <a:moveTo>
                  <a:pt x="69464" y="0"/>
                </a:moveTo>
                <a:lnTo>
                  <a:pt x="5592348" y="0"/>
                </a:lnTo>
                <a:cubicBezTo>
                  <a:pt x="5630712" y="0"/>
                  <a:pt x="5661812" y="31100"/>
                  <a:pt x="5661812" y="69464"/>
                </a:cubicBezTo>
                <a:lnTo>
                  <a:pt x="5661812" y="2830912"/>
                </a:lnTo>
                <a:cubicBezTo>
                  <a:pt x="5661812" y="2869276"/>
                  <a:pt x="5630712" y="2900376"/>
                  <a:pt x="5592348" y="2900376"/>
                </a:cubicBezTo>
                <a:lnTo>
                  <a:pt x="69464" y="2900376"/>
                </a:lnTo>
                <a:cubicBezTo>
                  <a:pt x="31100" y="2900376"/>
                  <a:pt x="0" y="2869276"/>
                  <a:pt x="0" y="2830912"/>
                </a:cubicBezTo>
                <a:lnTo>
                  <a:pt x="0" y="69464"/>
                </a:lnTo>
                <a:cubicBezTo>
                  <a:pt x="0" y="31126"/>
                  <a:pt x="31126" y="0"/>
                  <a:pt x="6946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103" dist="34735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026" y="1285197"/>
            <a:ext cx="540129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 vs New Zealand Test Series Impact</a:t>
            </a:r>
            <a:endParaRPr lang="en-US" sz="1600" dirty="0"/>
          </a:p>
        </p:txBody>
      </p:sp>
      <p:pic>
        <p:nvPicPr>
          <p:cNvPr id="6" name="Image 0" descr="https://kimi-img.moonshot.cn/pub/slides/26-02-28-04:20:56-d6gvpa5qip6d191l65e0.png">    </p:cNvPr>
          <p:cNvPicPr>
            <a:picLocks noChangeAspect="1"/>
          </p:cNvPicPr>
          <p:nvPr/>
        </p:nvPicPr>
        <p:blipFill>
          <a:blip r:embed="rId1"/>
          <a:srcRect l="44" r="44" t="0" b="0"/>
          <a:stretch/>
        </p:blipFill>
        <p:spPr>
          <a:xfrm>
            <a:off x="790222" y="1667282"/>
            <a:ext cx="4776068" cy="2170940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47350" y="4150838"/>
            <a:ext cx="5661812" cy="2709333"/>
          </a:xfrm>
          <a:custGeom>
            <a:avLst/>
            <a:gdLst/>
            <a:ahLst/>
            <a:cxnLst/>
            <a:rect l="l" t="t" r="r" b="b"/>
            <a:pathLst>
              <a:path w="5661812" h="2709333">
                <a:moveTo>
                  <a:pt x="69467" y="0"/>
                </a:moveTo>
                <a:lnTo>
                  <a:pt x="5592345" y="0"/>
                </a:lnTo>
                <a:cubicBezTo>
                  <a:pt x="5630710" y="0"/>
                  <a:pt x="5661812" y="31102"/>
                  <a:pt x="5661812" y="69467"/>
                </a:cubicBezTo>
                <a:lnTo>
                  <a:pt x="5661812" y="2639866"/>
                </a:lnTo>
                <a:cubicBezTo>
                  <a:pt x="5661812" y="2678232"/>
                  <a:pt x="5630710" y="2709333"/>
                  <a:pt x="5592345" y="2709333"/>
                </a:cubicBezTo>
                <a:lnTo>
                  <a:pt x="69467" y="2709333"/>
                </a:lnTo>
                <a:cubicBezTo>
                  <a:pt x="31102" y="2709333"/>
                  <a:pt x="0" y="2678232"/>
                  <a:pt x="0" y="2639866"/>
                </a:cubicBezTo>
                <a:lnTo>
                  <a:pt x="0" y="69467"/>
                </a:lnTo>
                <a:cubicBezTo>
                  <a:pt x="0" y="31127"/>
                  <a:pt x="31127" y="0"/>
                  <a:pt x="69467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8" name="Text 5"/>
          <p:cNvSpPr/>
          <p:nvPr/>
        </p:nvSpPr>
        <p:spPr>
          <a:xfrm>
            <a:off x="521026" y="4324513"/>
            <a:ext cx="540129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Search Interest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1026" y="4723966"/>
            <a:ext cx="106810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Mitchell Santner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16685" y="4706598"/>
            <a:ext cx="40813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1M+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1026" y="5053949"/>
            <a:ext cx="5314462" cy="69470"/>
          </a:xfrm>
          <a:custGeom>
            <a:avLst/>
            <a:gdLst/>
            <a:ahLst/>
            <a:cxnLst/>
            <a:rect l="l" t="t" r="r" b="b"/>
            <a:pathLst>
              <a:path w="5314462" h="69470">
                <a:moveTo>
                  <a:pt x="34735" y="0"/>
                </a:moveTo>
                <a:lnTo>
                  <a:pt x="5279726" y="0"/>
                </a:lnTo>
                <a:cubicBezTo>
                  <a:pt x="5298910" y="0"/>
                  <a:pt x="5314462" y="15551"/>
                  <a:pt x="5314462" y="34735"/>
                </a:cubicBezTo>
                <a:lnTo>
                  <a:pt x="5314462" y="34735"/>
                </a:lnTo>
                <a:cubicBezTo>
                  <a:pt x="5314462" y="53919"/>
                  <a:pt x="5298910" y="69470"/>
                  <a:pt x="5279726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21026" y="5053949"/>
            <a:ext cx="5314462" cy="69470"/>
          </a:xfrm>
          <a:custGeom>
            <a:avLst/>
            <a:gdLst/>
            <a:ahLst/>
            <a:cxnLst/>
            <a:rect l="l" t="t" r="r" b="b"/>
            <a:pathLst>
              <a:path w="5314462" h="69470">
                <a:moveTo>
                  <a:pt x="34735" y="0"/>
                </a:moveTo>
                <a:lnTo>
                  <a:pt x="5279726" y="0"/>
                </a:lnTo>
                <a:cubicBezTo>
                  <a:pt x="5298910" y="0"/>
                  <a:pt x="5314462" y="15551"/>
                  <a:pt x="5314462" y="34735"/>
                </a:cubicBezTo>
                <a:lnTo>
                  <a:pt x="5314462" y="34735"/>
                </a:lnTo>
                <a:cubicBezTo>
                  <a:pt x="5314462" y="53919"/>
                  <a:pt x="5298910" y="69470"/>
                  <a:pt x="5279726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Text 10"/>
          <p:cNvSpPr/>
          <p:nvPr/>
        </p:nvSpPr>
        <p:spPr>
          <a:xfrm>
            <a:off x="521026" y="5244991"/>
            <a:ext cx="127651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Washington Sundar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13485" y="5227624"/>
            <a:ext cx="607863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500K+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1026" y="5574974"/>
            <a:ext cx="5314462" cy="69470"/>
          </a:xfrm>
          <a:custGeom>
            <a:avLst/>
            <a:gdLst/>
            <a:ahLst/>
            <a:cxnLst/>
            <a:rect l="l" t="t" r="r" b="b"/>
            <a:pathLst>
              <a:path w="5314462" h="69470">
                <a:moveTo>
                  <a:pt x="34735" y="0"/>
                </a:moveTo>
                <a:lnTo>
                  <a:pt x="5279726" y="0"/>
                </a:lnTo>
                <a:cubicBezTo>
                  <a:pt x="5298910" y="0"/>
                  <a:pt x="5314462" y="15551"/>
                  <a:pt x="5314462" y="34735"/>
                </a:cubicBezTo>
                <a:lnTo>
                  <a:pt x="5314462" y="34735"/>
                </a:lnTo>
                <a:cubicBezTo>
                  <a:pt x="5314462" y="53919"/>
                  <a:pt x="5298910" y="69470"/>
                  <a:pt x="5279726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21026" y="5574974"/>
            <a:ext cx="2657231" cy="69470"/>
          </a:xfrm>
          <a:custGeom>
            <a:avLst/>
            <a:gdLst/>
            <a:ahLst/>
            <a:cxnLst/>
            <a:rect l="l" t="t" r="r" b="b"/>
            <a:pathLst>
              <a:path w="2657231" h="69470">
                <a:moveTo>
                  <a:pt x="34735" y="0"/>
                </a:moveTo>
                <a:lnTo>
                  <a:pt x="2622496" y="0"/>
                </a:lnTo>
                <a:cubicBezTo>
                  <a:pt x="2641679" y="0"/>
                  <a:pt x="2657231" y="15551"/>
                  <a:pt x="2657231" y="34735"/>
                </a:cubicBezTo>
                <a:lnTo>
                  <a:pt x="2657231" y="34735"/>
                </a:lnTo>
                <a:cubicBezTo>
                  <a:pt x="2657231" y="53919"/>
                  <a:pt x="2641679" y="69470"/>
                  <a:pt x="2622496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7" name="Text 14"/>
          <p:cNvSpPr/>
          <p:nvPr/>
        </p:nvSpPr>
        <p:spPr>
          <a:xfrm>
            <a:off x="521026" y="5766017"/>
            <a:ext cx="91179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Daryl Mitchell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464799" y="5748650"/>
            <a:ext cx="45155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1026" y="6096000"/>
            <a:ext cx="5314462" cy="69470"/>
          </a:xfrm>
          <a:custGeom>
            <a:avLst/>
            <a:gdLst/>
            <a:ahLst/>
            <a:cxnLst/>
            <a:rect l="l" t="t" r="r" b="b"/>
            <a:pathLst>
              <a:path w="5314462" h="69470">
                <a:moveTo>
                  <a:pt x="34735" y="0"/>
                </a:moveTo>
                <a:lnTo>
                  <a:pt x="5279726" y="0"/>
                </a:lnTo>
                <a:cubicBezTo>
                  <a:pt x="5298910" y="0"/>
                  <a:pt x="5314462" y="15551"/>
                  <a:pt x="5314462" y="34735"/>
                </a:cubicBezTo>
                <a:lnTo>
                  <a:pt x="5314462" y="34735"/>
                </a:lnTo>
                <a:cubicBezTo>
                  <a:pt x="5314462" y="53919"/>
                  <a:pt x="5298910" y="69470"/>
                  <a:pt x="5279726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21026" y="6096000"/>
            <a:ext cx="208410" cy="69470"/>
          </a:xfrm>
          <a:custGeom>
            <a:avLst/>
            <a:gdLst/>
            <a:ahLst/>
            <a:cxnLst/>
            <a:rect l="l" t="t" r="r" b="b"/>
            <a:pathLst>
              <a:path w="208410" h="69470">
                <a:moveTo>
                  <a:pt x="34735" y="0"/>
                </a:moveTo>
                <a:lnTo>
                  <a:pt x="173675" y="0"/>
                </a:lnTo>
                <a:cubicBezTo>
                  <a:pt x="192859" y="0"/>
                  <a:pt x="208410" y="15551"/>
                  <a:pt x="208410" y="34735"/>
                </a:cubicBezTo>
                <a:lnTo>
                  <a:pt x="208410" y="34735"/>
                </a:lnTo>
                <a:cubicBezTo>
                  <a:pt x="208410" y="53919"/>
                  <a:pt x="192859" y="69470"/>
                  <a:pt x="173675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1" name="Text 18"/>
          <p:cNvSpPr/>
          <p:nvPr/>
        </p:nvSpPr>
        <p:spPr>
          <a:xfrm>
            <a:off x="521026" y="6287043"/>
            <a:ext cx="89442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Glenn Phillips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464799" y="6269675"/>
            <a:ext cx="451556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21026" y="6617026"/>
            <a:ext cx="5314462" cy="69470"/>
          </a:xfrm>
          <a:custGeom>
            <a:avLst/>
            <a:gdLst/>
            <a:ahLst/>
            <a:cxnLst/>
            <a:rect l="l" t="t" r="r" b="b"/>
            <a:pathLst>
              <a:path w="5314462" h="69470">
                <a:moveTo>
                  <a:pt x="34735" y="0"/>
                </a:moveTo>
                <a:lnTo>
                  <a:pt x="5279726" y="0"/>
                </a:lnTo>
                <a:cubicBezTo>
                  <a:pt x="5298910" y="0"/>
                  <a:pt x="5314462" y="15551"/>
                  <a:pt x="5314462" y="34735"/>
                </a:cubicBezTo>
                <a:lnTo>
                  <a:pt x="5314462" y="34735"/>
                </a:lnTo>
                <a:cubicBezTo>
                  <a:pt x="5314462" y="53919"/>
                  <a:pt x="5298910" y="69470"/>
                  <a:pt x="5279726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21026" y="6617026"/>
            <a:ext cx="208410" cy="69470"/>
          </a:xfrm>
          <a:custGeom>
            <a:avLst/>
            <a:gdLst/>
            <a:ahLst/>
            <a:cxnLst/>
            <a:rect l="l" t="t" r="r" b="b"/>
            <a:pathLst>
              <a:path w="208410" h="69470">
                <a:moveTo>
                  <a:pt x="34735" y="0"/>
                </a:moveTo>
                <a:lnTo>
                  <a:pt x="173675" y="0"/>
                </a:lnTo>
                <a:cubicBezTo>
                  <a:pt x="192859" y="0"/>
                  <a:pt x="208410" y="15551"/>
                  <a:pt x="208410" y="34735"/>
                </a:cubicBezTo>
                <a:lnTo>
                  <a:pt x="208410" y="34735"/>
                </a:lnTo>
                <a:cubicBezTo>
                  <a:pt x="208410" y="53919"/>
                  <a:pt x="192859" y="69470"/>
                  <a:pt x="173675" y="69470"/>
                </a:cubicBezTo>
                <a:lnTo>
                  <a:pt x="34735" y="69470"/>
                </a:lnTo>
                <a:cubicBezTo>
                  <a:pt x="15564" y="69470"/>
                  <a:pt x="0" y="53906"/>
                  <a:pt x="0" y="3473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5" name="Shape 22"/>
          <p:cNvSpPr/>
          <p:nvPr/>
        </p:nvSpPr>
        <p:spPr>
          <a:xfrm>
            <a:off x="6184683" y="1111521"/>
            <a:ext cx="5661812" cy="5748650"/>
          </a:xfrm>
          <a:custGeom>
            <a:avLst/>
            <a:gdLst/>
            <a:ahLst/>
            <a:cxnLst/>
            <a:rect l="l" t="t" r="r" b="b"/>
            <a:pathLst>
              <a:path w="5661812" h="5748650">
                <a:moveTo>
                  <a:pt x="69470" y="0"/>
                </a:moveTo>
                <a:lnTo>
                  <a:pt x="5592342" y="0"/>
                </a:lnTo>
                <a:cubicBezTo>
                  <a:pt x="5630709" y="0"/>
                  <a:pt x="5661812" y="31103"/>
                  <a:pt x="5661812" y="69470"/>
                </a:cubicBezTo>
                <a:lnTo>
                  <a:pt x="5661812" y="5679179"/>
                </a:lnTo>
                <a:cubicBezTo>
                  <a:pt x="5661812" y="5717547"/>
                  <a:pt x="5630709" y="5748650"/>
                  <a:pt x="5592342" y="5748650"/>
                </a:cubicBezTo>
                <a:lnTo>
                  <a:pt x="69470" y="5748650"/>
                </a:lnTo>
                <a:cubicBezTo>
                  <a:pt x="31103" y="5748650"/>
                  <a:pt x="0" y="5717547"/>
                  <a:pt x="0" y="5679179"/>
                </a:cubicBezTo>
                <a:lnTo>
                  <a:pt x="0" y="69470"/>
                </a:lnTo>
                <a:cubicBezTo>
                  <a:pt x="0" y="31103"/>
                  <a:pt x="31103" y="0"/>
                  <a:pt x="694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2103" dist="34735" dir="5400000">
              <a:srgbClr val="000000">
                <a:alpha val="10196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358358" y="1285197"/>
            <a:ext cx="540129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Cricket Search Categories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75726" y="1667282"/>
            <a:ext cx="5297094" cy="1042051"/>
          </a:xfrm>
          <a:custGeom>
            <a:avLst/>
            <a:gdLst/>
            <a:ahLst/>
            <a:cxnLst/>
            <a:rect l="l" t="t" r="r" b="b"/>
            <a:pathLst>
              <a:path w="5297094" h="1042051">
                <a:moveTo>
                  <a:pt x="34735" y="0"/>
                </a:moveTo>
                <a:lnTo>
                  <a:pt x="5227620" y="0"/>
                </a:lnTo>
                <a:cubicBezTo>
                  <a:pt x="5265990" y="0"/>
                  <a:pt x="5297094" y="31104"/>
                  <a:pt x="5297094" y="69474"/>
                </a:cubicBezTo>
                <a:lnTo>
                  <a:pt x="5297094" y="972578"/>
                </a:lnTo>
                <a:cubicBezTo>
                  <a:pt x="5297094" y="1010947"/>
                  <a:pt x="5265990" y="1042051"/>
                  <a:pt x="5227620" y="1042051"/>
                </a:cubicBez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8" name="Shape 25"/>
          <p:cNvSpPr/>
          <p:nvPr/>
        </p:nvSpPr>
        <p:spPr>
          <a:xfrm>
            <a:off x="6375726" y="1667282"/>
            <a:ext cx="34735" cy="1042051"/>
          </a:xfrm>
          <a:custGeom>
            <a:avLst/>
            <a:gdLst/>
            <a:ahLst/>
            <a:cxnLst/>
            <a:rect l="l" t="t" r="r" b="b"/>
            <a:pathLst>
              <a:path w="34735" h="1042051">
                <a:moveTo>
                  <a:pt x="34735" y="0"/>
                </a:moveTo>
                <a:lnTo>
                  <a:pt x="34735" y="0"/>
                </a:lnTo>
                <a:lnTo>
                  <a:pt x="34735" y="1042051"/>
                </a:ln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9" name="Shape 26"/>
          <p:cNvSpPr/>
          <p:nvPr/>
        </p:nvSpPr>
        <p:spPr>
          <a:xfrm>
            <a:off x="6564598" y="1840957"/>
            <a:ext cx="151966" cy="173675"/>
          </a:xfrm>
          <a:custGeom>
            <a:avLst/>
            <a:gdLst/>
            <a:ahLst/>
            <a:cxnLst/>
            <a:rect l="l" t="t" r="r" b="b"/>
            <a:pathLst>
              <a:path w="151966" h="173675">
                <a:moveTo>
                  <a:pt x="43419" y="0"/>
                </a:moveTo>
                <a:cubicBezTo>
                  <a:pt x="49423" y="0"/>
                  <a:pt x="54274" y="4851"/>
                  <a:pt x="54274" y="10855"/>
                </a:cubicBezTo>
                <a:lnTo>
                  <a:pt x="54274" y="21709"/>
                </a:lnTo>
                <a:lnTo>
                  <a:pt x="97692" y="21709"/>
                </a:lnTo>
                <a:lnTo>
                  <a:pt x="97692" y="10855"/>
                </a:lnTo>
                <a:cubicBezTo>
                  <a:pt x="97692" y="4851"/>
                  <a:pt x="102543" y="0"/>
                  <a:pt x="108547" y="0"/>
                </a:cubicBezTo>
                <a:cubicBezTo>
                  <a:pt x="114551" y="0"/>
                  <a:pt x="119402" y="4851"/>
                  <a:pt x="119402" y="10855"/>
                </a:cubicBezTo>
                <a:lnTo>
                  <a:pt x="119402" y="21709"/>
                </a:lnTo>
                <a:lnTo>
                  <a:pt x="130256" y="21709"/>
                </a:lnTo>
                <a:cubicBezTo>
                  <a:pt x="142231" y="21709"/>
                  <a:pt x="151966" y="31445"/>
                  <a:pt x="151966" y="43419"/>
                </a:cubicBezTo>
                <a:lnTo>
                  <a:pt x="151966" y="141111"/>
                </a:lnTo>
                <a:cubicBezTo>
                  <a:pt x="151966" y="153085"/>
                  <a:pt x="142231" y="162821"/>
                  <a:pt x="130256" y="162821"/>
                </a:cubicBezTo>
                <a:lnTo>
                  <a:pt x="21709" y="162821"/>
                </a:lnTo>
                <a:cubicBezTo>
                  <a:pt x="9735" y="162821"/>
                  <a:pt x="0" y="153085"/>
                  <a:pt x="0" y="141111"/>
                </a:cubicBezTo>
                <a:lnTo>
                  <a:pt x="0" y="43419"/>
                </a:lnTo>
                <a:cubicBezTo>
                  <a:pt x="0" y="31445"/>
                  <a:pt x="9735" y="21709"/>
                  <a:pt x="21709" y="21709"/>
                </a:cubicBezTo>
                <a:lnTo>
                  <a:pt x="32564" y="21709"/>
                </a:lnTo>
                <a:lnTo>
                  <a:pt x="32564" y="10855"/>
                </a:lnTo>
                <a:cubicBezTo>
                  <a:pt x="32564" y="4851"/>
                  <a:pt x="37415" y="0"/>
                  <a:pt x="43419" y="0"/>
                </a:cubicBezTo>
                <a:close/>
                <a:moveTo>
                  <a:pt x="21709" y="81410"/>
                </a:moveTo>
                <a:lnTo>
                  <a:pt x="21709" y="92265"/>
                </a:lnTo>
                <a:cubicBezTo>
                  <a:pt x="21709" y="95250"/>
                  <a:pt x="24152" y="97692"/>
                  <a:pt x="27137" y="97692"/>
                </a:cubicBezTo>
                <a:lnTo>
                  <a:pt x="37991" y="97692"/>
                </a:lnTo>
                <a:cubicBezTo>
                  <a:pt x="40976" y="97692"/>
                  <a:pt x="43419" y="95250"/>
                  <a:pt x="43419" y="92265"/>
                </a:cubicBezTo>
                <a:lnTo>
                  <a:pt x="43419" y="81410"/>
                </a:lnTo>
                <a:cubicBezTo>
                  <a:pt x="43419" y="78425"/>
                  <a:pt x="40976" y="75983"/>
                  <a:pt x="37991" y="75983"/>
                </a:cubicBezTo>
                <a:lnTo>
                  <a:pt x="27137" y="75983"/>
                </a:lnTo>
                <a:cubicBezTo>
                  <a:pt x="24152" y="75983"/>
                  <a:pt x="21709" y="78425"/>
                  <a:pt x="21709" y="81410"/>
                </a:cubicBezTo>
                <a:close/>
                <a:moveTo>
                  <a:pt x="65128" y="81410"/>
                </a:moveTo>
                <a:lnTo>
                  <a:pt x="65128" y="92265"/>
                </a:lnTo>
                <a:cubicBezTo>
                  <a:pt x="65128" y="95250"/>
                  <a:pt x="67571" y="97692"/>
                  <a:pt x="70556" y="97692"/>
                </a:cubicBezTo>
                <a:lnTo>
                  <a:pt x="81410" y="97692"/>
                </a:lnTo>
                <a:cubicBezTo>
                  <a:pt x="84395" y="97692"/>
                  <a:pt x="86838" y="95250"/>
                  <a:pt x="86838" y="92265"/>
                </a:cubicBezTo>
                <a:lnTo>
                  <a:pt x="86838" y="81410"/>
                </a:lnTo>
                <a:cubicBezTo>
                  <a:pt x="86838" y="78425"/>
                  <a:pt x="84395" y="75983"/>
                  <a:pt x="81410" y="75983"/>
                </a:cubicBezTo>
                <a:lnTo>
                  <a:pt x="70556" y="75983"/>
                </a:lnTo>
                <a:cubicBezTo>
                  <a:pt x="67571" y="75983"/>
                  <a:pt x="65128" y="78425"/>
                  <a:pt x="65128" y="81410"/>
                </a:cubicBezTo>
                <a:close/>
                <a:moveTo>
                  <a:pt x="113974" y="75983"/>
                </a:moveTo>
                <a:cubicBezTo>
                  <a:pt x="110989" y="75983"/>
                  <a:pt x="108547" y="78425"/>
                  <a:pt x="108547" y="81410"/>
                </a:cubicBezTo>
                <a:lnTo>
                  <a:pt x="108547" y="92265"/>
                </a:lnTo>
                <a:cubicBezTo>
                  <a:pt x="108547" y="95250"/>
                  <a:pt x="110989" y="97692"/>
                  <a:pt x="113974" y="97692"/>
                </a:cubicBezTo>
                <a:lnTo>
                  <a:pt x="124829" y="97692"/>
                </a:lnTo>
                <a:cubicBezTo>
                  <a:pt x="127814" y="97692"/>
                  <a:pt x="130256" y="95250"/>
                  <a:pt x="130256" y="92265"/>
                </a:cubicBezTo>
                <a:lnTo>
                  <a:pt x="130256" y="81410"/>
                </a:lnTo>
                <a:cubicBezTo>
                  <a:pt x="130256" y="78425"/>
                  <a:pt x="127814" y="75983"/>
                  <a:pt x="124829" y="75983"/>
                </a:cubicBezTo>
                <a:lnTo>
                  <a:pt x="113974" y="75983"/>
                </a:lnTo>
                <a:close/>
                <a:moveTo>
                  <a:pt x="21709" y="124829"/>
                </a:moveTo>
                <a:lnTo>
                  <a:pt x="21709" y="135684"/>
                </a:lnTo>
                <a:cubicBezTo>
                  <a:pt x="21709" y="138669"/>
                  <a:pt x="24152" y="141111"/>
                  <a:pt x="27137" y="141111"/>
                </a:cubicBezTo>
                <a:lnTo>
                  <a:pt x="37991" y="141111"/>
                </a:lnTo>
                <a:cubicBezTo>
                  <a:pt x="40976" y="141111"/>
                  <a:pt x="43419" y="138669"/>
                  <a:pt x="43419" y="135684"/>
                </a:cubicBezTo>
                <a:lnTo>
                  <a:pt x="43419" y="124829"/>
                </a:lnTo>
                <a:cubicBezTo>
                  <a:pt x="43419" y="121844"/>
                  <a:pt x="40976" y="119402"/>
                  <a:pt x="37991" y="119402"/>
                </a:cubicBezTo>
                <a:lnTo>
                  <a:pt x="27137" y="119402"/>
                </a:lnTo>
                <a:cubicBezTo>
                  <a:pt x="24152" y="119402"/>
                  <a:pt x="21709" y="121844"/>
                  <a:pt x="21709" y="124829"/>
                </a:cubicBezTo>
                <a:close/>
                <a:moveTo>
                  <a:pt x="70556" y="119402"/>
                </a:moveTo>
                <a:cubicBezTo>
                  <a:pt x="67571" y="119402"/>
                  <a:pt x="65128" y="121844"/>
                  <a:pt x="65128" y="124829"/>
                </a:cubicBezTo>
                <a:lnTo>
                  <a:pt x="65128" y="135684"/>
                </a:lnTo>
                <a:cubicBezTo>
                  <a:pt x="65128" y="138669"/>
                  <a:pt x="67571" y="141111"/>
                  <a:pt x="70556" y="141111"/>
                </a:cubicBezTo>
                <a:lnTo>
                  <a:pt x="81410" y="141111"/>
                </a:lnTo>
                <a:cubicBezTo>
                  <a:pt x="84395" y="141111"/>
                  <a:pt x="86838" y="138669"/>
                  <a:pt x="86838" y="135684"/>
                </a:cubicBezTo>
                <a:lnTo>
                  <a:pt x="86838" y="124829"/>
                </a:lnTo>
                <a:cubicBezTo>
                  <a:pt x="86838" y="121844"/>
                  <a:pt x="84395" y="119402"/>
                  <a:pt x="81410" y="119402"/>
                </a:cubicBezTo>
                <a:lnTo>
                  <a:pt x="70556" y="119402"/>
                </a:lnTo>
                <a:close/>
                <a:moveTo>
                  <a:pt x="108547" y="124829"/>
                </a:moveTo>
                <a:lnTo>
                  <a:pt x="108547" y="135684"/>
                </a:lnTo>
                <a:cubicBezTo>
                  <a:pt x="108547" y="138669"/>
                  <a:pt x="110989" y="141111"/>
                  <a:pt x="113974" y="141111"/>
                </a:cubicBezTo>
                <a:lnTo>
                  <a:pt x="124829" y="141111"/>
                </a:lnTo>
                <a:cubicBezTo>
                  <a:pt x="127814" y="141111"/>
                  <a:pt x="130256" y="138669"/>
                  <a:pt x="130256" y="135684"/>
                </a:cubicBezTo>
                <a:lnTo>
                  <a:pt x="130256" y="124829"/>
                </a:lnTo>
                <a:cubicBezTo>
                  <a:pt x="130256" y="121844"/>
                  <a:pt x="127814" y="119402"/>
                  <a:pt x="124829" y="119402"/>
                </a:cubicBezTo>
                <a:lnTo>
                  <a:pt x="113974" y="119402"/>
                </a:lnTo>
                <a:cubicBezTo>
                  <a:pt x="110989" y="119402"/>
                  <a:pt x="108547" y="121844"/>
                  <a:pt x="108547" y="124829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6853333" y="1806222"/>
            <a:ext cx="1927795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Schedules &amp; Scores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32034" y="2118838"/>
            <a:ext cx="5071316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scores, match timings, and schedule queries dominate cricket searches during active series. Real-time updates drive sustained engagement.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375726" y="2813538"/>
            <a:ext cx="5297094" cy="1042051"/>
          </a:xfrm>
          <a:custGeom>
            <a:avLst/>
            <a:gdLst/>
            <a:ahLst/>
            <a:cxnLst/>
            <a:rect l="l" t="t" r="r" b="b"/>
            <a:pathLst>
              <a:path w="5297094" h="1042051">
                <a:moveTo>
                  <a:pt x="34735" y="0"/>
                </a:moveTo>
                <a:lnTo>
                  <a:pt x="5227620" y="0"/>
                </a:lnTo>
                <a:cubicBezTo>
                  <a:pt x="5265990" y="0"/>
                  <a:pt x="5297094" y="31104"/>
                  <a:pt x="5297094" y="69474"/>
                </a:cubicBezTo>
                <a:lnTo>
                  <a:pt x="5297094" y="972578"/>
                </a:lnTo>
                <a:cubicBezTo>
                  <a:pt x="5297094" y="1010947"/>
                  <a:pt x="5265990" y="1042051"/>
                  <a:pt x="5227620" y="1042051"/>
                </a:cubicBez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3" name="Shape 30"/>
          <p:cNvSpPr/>
          <p:nvPr/>
        </p:nvSpPr>
        <p:spPr>
          <a:xfrm>
            <a:off x="6375726" y="2813538"/>
            <a:ext cx="34735" cy="1042051"/>
          </a:xfrm>
          <a:custGeom>
            <a:avLst/>
            <a:gdLst/>
            <a:ahLst/>
            <a:cxnLst/>
            <a:rect l="l" t="t" r="r" b="b"/>
            <a:pathLst>
              <a:path w="34735" h="1042051">
                <a:moveTo>
                  <a:pt x="34735" y="0"/>
                </a:moveTo>
                <a:lnTo>
                  <a:pt x="34735" y="0"/>
                </a:lnTo>
                <a:lnTo>
                  <a:pt x="34735" y="1042051"/>
                </a:ln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4" name="Shape 31"/>
          <p:cNvSpPr/>
          <p:nvPr/>
        </p:nvSpPr>
        <p:spPr>
          <a:xfrm>
            <a:off x="6532034" y="2987214"/>
            <a:ext cx="217094" cy="173675"/>
          </a:xfrm>
          <a:custGeom>
            <a:avLst/>
            <a:gdLst/>
            <a:ahLst/>
            <a:cxnLst/>
            <a:rect l="l" t="t" r="r" b="b"/>
            <a:pathLst>
              <a:path w="217094" h="173675">
                <a:moveTo>
                  <a:pt x="108547" y="5427"/>
                </a:moveTo>
                <a:cubicBezTo>
                  <a:pt x="128017" y="5427"/>
                  <a:pt x="143825" y="21235"/>
                  <a:pt x="143825" y="40705"/>
                </a:cubicBezTo>
                <a:cubicBezTo>
                  <a:pt x="143825" y="60175"/>
                  <a:pt x="128017" y="75983"/>
                  <a:pt x="108547" y="75983"/>
                </a:cubicBezTo>
                <a:cubicBezTo>
                  <a:pt x="89077" y="75983"/>
                  <a:pt x="73269" y="60175"/>
                  <a:pt x="73269" y="40705"/>
                </a:cubicBezTo>
                <a:cubicBezTo>
                  <a:pt x="73269" y="21235"/>
                  <a:pt x="89077" y="5427"/>
                  <a:pt x="108547" y="5427"/>
                </a:cubicBezTo>
                <a:close/>
                <a:moveTo>
                  <a:pt x="32564" y="29850"/>
                </a:moveTo>
                <a:cubicBezTo>
                  <a:pt x="46044" y="29850"/>
                  <a:pt x="56987" y="40794"/>
                  <a:pt x="56987" y="54274"/>
                </a:cubicBezTo>
                <a:cubicBezTo>
                  <a:pt x="56987" y="67753"/>
                  <a:pt x="46044" y="78697"/>
                  <a:pt x="32564" y="78697"/>
                </a:cubicBezTo>
                <a:cubicBezTo>
                  <a:pt x="19085" y="78697"/>
                  <a:pt x="8141" y="67753"/>
                  <a:pt x="8141" y="54274"/>
                </a:cubicBezTo>
                <a:cubicBezTo>
                  <a:pt x="8141" y="40794"/>
                  <a:pt x="19085" y="29850"/>
                  <a:pt x="32564" y="29850"/>
                </a:cubicBezTo>
                <a:close/>
                <a:moveTo>
                  <a:pt x="0" y="141111"/>
                </a:moveTo>
                <a:cubicBezTo>
                  <a:pt x="0" y="117129"/>
                  <a:pt x="19437" y="97692"/>
                  <a:pt x="43419" y="97692"/>
                </a:cubicBezTo>
                <a:cubicBezTo>
                  <a:pt x="47761" y="97692"/>
                  <a:pt x="51967" y="98337"/>
                  <a:pt x="55936" y="99524"/>
                </a:cubicBezTo>
                <a:cubicBezTo>
                  <a:pt x="44776" y="112007"/>
                  <a:pt x="37991" y="128493"/>
                  <a:pt x="37991" y="146538"/>
                </a:cubicBezTo>
                <a:lnTo>
                  <a:pt x="37991" y="151966"/>
                </a:lnTo>
                <a:cubicBezTo>
                  <a:pt x="37991" y="155833"/>
                  <a:pt x="38806" y="159496"/>
                  <a:pt x="40264" y="162821"/>
                </a:cubicBezTo>
                <a:lnTo>
                  <a:pt x="10855" y="162821"/>
                </a:lnTo>
                <a:cubicBezTo>
                  <a:pt x="4851" y="162821"/>
                  <a:pt x="0" y="157970"/>
                  <a:pt x="0" y="151966"/>
                </a:cubicBezTo>
                <a:lnTo>
                  <a:pt x="0" y="141111"/>
                </a:lnTo>
                <a:close/>
                <a:moveTo>
                  <a:pt x="176830" y="162821"/>
                </a:moveTo>
                <a:cubicBezTo>
                  <a:pt x="178288" y="159496"/>
                  <a:pt x="179103" y="155833"/>
                  <a:pt x="179103" y="151966"/>
                </a:cubicBezTo>
                <a:lnTo>
                  <a:pt x="179103" y="146538"/>
                </a:lnTo>
                <a:cubicBezTo>
                  <a:pt x="179103" y="128493"/>
                  <a:pt x="172318" y="112007"/>
                  <a:pt x="161158" y="99524"/>
                </a:cubicBezTo>
                <a:cubicBezTo>
                  <a:pt x="165127" y="98337"/>
                  <a:pt x="169333" y="97692"/>
                  <a:pt x="173675" y="97692"/>
                </a:cubicBezTo>
                <a:cubicBezTo>
                  <a:pt x="197657" y="97692"/>
                  <a:pt x="217094" y="117129"/>
                  <a:pt x="217094" y="141111"/>
                </a:cubicBezTo>
                <a:lnTo>
                  <a:pt x="217094" y="151966"/>
                </a:lnTo>
                <a:cubicBezTo>
                  <a:pt x="217094" y="157970"/>
                  <a:pt x="212243" y="162821"/>
                  <a:pt x="206239" y="162821"/>
                </a:cubicBezTo>
                <a:lnTo>
                  <a:pt x="176830" y="162821"/>
                </a:lnTo>
                <a:close/>
                <a:moveTo>
                  <a:pt x="160107" y="54274"/>
                </a:moveTo>
                <a:cubicBezTo>
                  <a:pt x="160107" y="40794"/>
                  <a:pt x="171050" y="29850"/>
                  <a:pt x="184530" y="29850"/>
                </a:cubicBezTo>
                <a:cubicBezTo>
                  <a:pt x="198009" y="29850"/>
                  <a:pt x="208953" y="40794"/>
                  <a:pt x="208953" y="54274"/>
                </a:cubicBezTo>
                <a:cubicBezTo>
                  <a:pt x="208953" y="67753"/>
                  <a:pt x="198009" y="78697"/>
                  <a:pt x="184530" y="78697"/>
                </a:cubicBezTo>
                <a:cubicBezTo>
                  <a:pt x="171050" y="78697"/>
                  <a:pt x="160107" y="67753"/>
                  <a:pt x="160107" y="54274"/>
                </a:cubicBezTo>
                <a:close/>
                <a:moveTo>
                  <a:pt x="54274" y="146538"/>
                </a:moveTo>
                <a:cubicBezTo>
                  <a:pt x="54274" y="116552"/>
                  <a:pt x="78561" y="92265"/>
                  <a:pt x="108547" y="92265"/>
                </a:cubicBezTo>
                <a:cubicBezTo>
                  <a:pt x="138533" y="92265"/>
                  <a:pt x="162821" y="116552"/>
                  <a:pt x="162821" y="146538"/>
                </a:cubicBezTo>
                <a:lnTo>
                  <a:pt x="162821" y="151966"/>
                </a:lnTo>
                <a:cubicBezTo>
                  <a:pt x="162821" y="157970"/>
                  <a:pt x="157970" y="162821"/>
                  <a:pt x="151966" y="162821"/>
                </a:cubicBezTo>
                <a:lnTo>
                  <a:pt x="65128" y="162821"/>
                </a:lnTo>
                <a:cubicBezTo>
                  <a:pt x="59124" y="162821"/>
                  <a:pt x="54274" y="157970"/>
                  <a:pt x="54274" y="151966"/>
                </a:cubicBezTo>
                <a:lnTo>
                  <a:pt x="54274" y="14653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5" name="Text 32"/>
          <p:cNvSpPr/>
          <p:nvPr/>
        </p:nvSpPr>
        <p:spPr>
          <a:xfrm>
            <a:off x="6853333" y="2952479"/>
            <a:ext cx="1910427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&amp; Player Information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32034" y="3265094"/>
            <a:ext cx="5071316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statistics, team lineups, and performance analysis generate significant search volume, especially during international tournaments.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75726" y="3959795"/>
            <a:ext cx="5297094" cy="1042051"/>
          </a:xfrm>
          <a:custGeom>
            <a:avLst/>
            <a:gdLst/>
            <a:ahLst/>
            <a:cxnLst/>
            <a:rect l="l" t="t" r="r" b="b"/>
            <a:pathLst>
              <a:path w="5297094" h="1042051">
                <a:moveTo>
                  <a:pt x="34735" y="0"/>
                </a:moveTo>
                <a:lnTo>
                  <a:pt x="5227620" y="0"/>
                </a:lnTo>
                <a:cubicBezTo>
                  <a:pt x="5265990" y="0"/>
                  <a:pt x="5297094" y="31104"/>
                  <a:pt x="5297094" y="69474"/>
                </a:cubicBezTo>
                <a:lnTo>
                  <a:pt x="5297094" y="972578"/>
                </a:lnTo>
                <a:cubicBezTo>
                  <a:pt x="5297094" y="1010947"/>
                  <a:pt x="5265990" y="1042051"/>
                  <a:pt x="5227620" y="1042051"/>
                </a:cubicBez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8" name="Shape 35"/>
          <p:cNvSpPr/>
          <p:nvPr/>
        </p:nvSpPr>
        <p:spPr>
          <a:xfrm>
            <a:off x="6375726" y="3959795"/>
            <a:ext cx="34735" cy="1042051"/>
          </a:xfrm>
          <a:custGeom>
            <a:avLst/>
            <a:gdLst/>
            <a:ahLst/>
            <a:cxnLst/>
            <a:rect l="l" t="t" r="r" b="b"/>
            <a:pathLst>
              <a:path w="34735" h="1042051">
                <a:moveTo>
                  <a:pt x="34735" y="0"/>
                </a:moveTo>
                <a:lnTo>
                  <a:pt x="34735" y="0"/>
                </a:lnTo>
                <a:lnTo>
                  <a:pt x="34735" y="1042051"/>
                </a:ln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9" name="Shape 36"/>
          <p:cNvSpPr/>
          <p:nvPr/>
        </p:nvSpPr>
        <p:spPr>
          <a:xfrm>
            <a:off x="6553743" y="4133470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48948" y="0"/>
                </a:moveTo>
                <a:lnTo>
                  <a:pt x="124931" y="0"/>
                </a:lnTo>
                <a:cubicBezTo>
                  <a:pt x="133920" y="0"/>
                  <a:pt x="141247" y="7395"/>
                  <a:pt x="140908" y="16350"/>
                </a:cubicBezTo>
                <a:cubicBezTo>
                  <a:pt x="140840" y="18148"/>
                  <a:pt x="140772" y="19946"/>
                  <a:pt x="140670" y="21709"/>
                </a:cubicBezTo>
                <a:lnTo>
                  <a:pt x="157495" y="21709"/>
                </a:lnTo>
                <a:cubicBezTo>
                  <a:pt x="166348" y="21709"/>
                  <a:pt x="174150" y="29036"/>
                  <a:pt x="173472" y="38602"/>
                </a:cubicBezTo>
                <a:cubicBezTo>
                  <a:pt x="170928" y="73778"/>
                  <a:pt x="152950" y="93113"/>
                  <a:pt x="133445" y="103221"/>
                </a:cubicBezTo>
                <a:cubicBezTo>
                  <a:pt x="128085" y="106003"/>
                  <a:pt x="122624" y="108072"/>
                  <a:pt x="117434" y="109599"/>
                </a:cubicBezTo>
                <a:cubicBezTo>
                  <a:pt x="110582" y="119300"/>
                  <a:pt x="103459" y="124422"/>
                  <a:pt x="97794" y="127170"/>
                </a:cubicBezTo>
                <a:lnTo>
                  <a:pt x="97794" y="151966"/>
                </a:lnTo>
                <a:lnTo>
                  <a:pt x="119503" y="151966"/>
                </a:lnTo>
                <a:cubicBezTo>
                  <a:pt x="125507" y="151966"/>
                  <a:pt x="130358" y="156817"/>
                  <a:pt x="130358" y="162821"/>
                </a:cubicBezTo>
                <a:cubicBezTo>
                  <a:pt x="130358" y="168825"/>
                  <a:pt x="125507" y="173675"/>
                  <a:pt x="119503" y="173675"/>
                </a:cubicBezTo>
                <a:lnTo>
                  <a:pt x="54375" y="173675"/>
                </a:lnTo>
                <a:cubicBezTo>
                  <a:pt x="48371" y="173675"/>
                  <a:pt x="43521" y="168825"/>
                  <a:pt x="43521" y="162821"/>
                </a:cubicBezTo>
                <a:cubicBezTo>
                  <a:pt x="43521" y="156817"/>
                  <a:pt x="48371" y="151966"/>
                  <a:pt x="54375" y="151966"/>
                </a:cubicBezTo>
                <a:lnTo>
                  <a:pt x="76085" y="151966"/>
                </a:lnTo>
                <a:lnTo>
                  <a:pt x="76085" y="127170"/>
                </a:lnTo>
                <a:cubicBezTo>
                  <a:pt x="70657" y="124558"/>
                  <a:pt x="63907" y="119707"/>
                  <a:pt x="57326" y="110786"/>
                </a:cubicBezTo>
                <a:cubicBezTo>
                  <a:pt x="51085" y="109158"/>
                  <a:pt x="44301" y="106681"/>
                  <a:pt x="37686" y="102950"/>
                </a:cubicBezTo>
                <a:cubicBezTo>
                  <a:pt x="19335" y="92672"/>
                  <a:pt x="2782" y="73303"/>
                  <a:pt x="407" y="38534"/>
                </a:cubicBezTo>
                <a:cubicBezTo>
                  <a:pt x="-237" y="29002"/>
                  <a:pt x="7530" y="21675"/>
                  <a:pt x="16384" y="21675"/>
                </a:cubicBezTo>
                <a:lnTo>
                  <a:pt x="33209" y="21675"/>
                </a:lnTo>
                <a:cubicBezTo>
                  <a:pt x="33107" y="19912"/>
                  <a:pt x="33039" y="18148"/>
                  <a:pt x="32971" y="16316"/>
                </a:cubicBezTo>
                <a:cubicBezTo>
                  <a:pt x="32632" y="7327"/>
                  <a:pt x="39959" y="-34"/>
                  <a:pt x="48948" y="-34"/>
                </a:cubicBezTo>
                <a:close/>
                <a:moveTo>
                  <a:pt x="34430" y="37991"/>
                </a:moveTo>
                <a:lnTo>
                  <a:pt x="16655" y="37991"/>
                </a:lnTo>
                <a:cubicBezTo>
                  <a:pt x="18758" y="66722"/>
                  <a:pt x="31954" y="81105"/>
                  <a:pt x="45556" y="88737"/>
                </a:cubicBezTo>
                <a:cubicBezTo>
                  <a:pt x="40671" y="76085"/>
                  <a:pt x="36635" y="59565"/>
                  <a:pt x="34430" y="37991"/>
                </a:cubicBezTo>
                <a:close/>
                <a:moveTo>
                  <a:pt x="128900" y="87109"/>
                </a:moveTo>
                <a:cubicBezTo>
                  <a:pt x="142638" y="79036"/>
                  <a:pt x="155053" y="64687"/>
                  <a:pt x="157156" y="37991"/>
                </a:cubicBezTo>
                <a:lnTo>
                  <a:pt x="139415" y="37991"/>
                </a:lnTo>
                <a:cubicBezTo>
                  <a:pt x="137312" y="58649"/>
                  <a:pt x="133513" y="74694"/>
                  <a:pt x="128900" y="87109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0" name="Text 37"/>
          <p:cNvSpPr/>
          <p:nvPr/>
        </p:nvSpPr>
        <p:spPr>
          <a:xfrm>
            <a:off x="6853333" y="4098735"/>
            <a:ext cx="1502291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Tournament Context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32034" y="4411350"/>
            <a:ext cx="5071316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 Test Championship points table, rankings, and qualification scenarios drive searches beyond individual matches.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75726" y="5106051"/>
            <a:ext cx="5297094" cy="1042051"/>
          </a:xfrm>
          <a:custGeom>
            <a:avLst/>
            <a:gdLst/>
            <a:ahLst/>
            <a:cxnLst/>
            <a:rect l="l" t="t" r="r" b="b"/>
            <a:pathLst>
              <a:path w="5297094" h="1042051">
                <a:moveTo>
                  <a:pt x="34735" y="0"/>
                </a:moveTo>
                <a:lnTo>
                  <a:pt x="5227620" y="0"/>
                </a:lnTo>
                <a:cubicBezTo>
                  <a:pt x="5265990" y="0"/>
                  <a:pt x="5297094" y="31104"/>
                  <a:pt x="5297094" y="69474"/>
                </a:cubicBezTo>
                <a:lnTo>
                  <a:pt x="5297094" y="972578"/>
                </a:lnTo>
                <a:cubicBezTo>
                  <a:pt x="5297094" y="1010947"/>
                  <a:pt x="5265990" y="1042051"/>
                  <a:pt x="5227620" y="1042051"/>
                </a:cubicBez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3" name="Shape 40"/>
          <p:cNvSpPr/>
          <p:nvPr/>
        </p:nvSpPr>
        <p:spPr>
          <a:xfrm>
            <a:off x="6375726" y="5106051"/>
            <a:ext cx="34735" cy="1042051"/>
          </a:xfrm>
          <a:custGeom>
            <a:avLst/>
            <a:gdLst/>
            <a:ahLst/>
            <a:cxnLst/>
            <a:rect l="l" t="t" r="r" b="b"/>
            <a:pathLst>
              <a:path w="34735" h="1042051">
                <a:moveTo>
                  <a:pt x="34735" y="0"/>
                </a:moveTo>
                <a:lnTo>
                  <a:pt x="34735" y="0"/>
                </a:lnTo>
                <a:lnTo>
                  <a:pt x="34735" y="1042051"/>
                </a:lnTo>
                <a:lnTo>
                  <a:pt x="34735" y="1042051"/>
                </a:lnTo>
                <a:cubicBezTo>
                  <a:pt x="15551" y="1042051"/>
                  <a:pt x="0" y="1026500"/>
                  <a:pt x="0" y="100731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4" name="Shape 41"/>
          <p:cNvSpPr/>
          <p:nvPr/>
        </p:nvSpPr>
        <p:spPr>
          <a:xfrm>
            <a:off x="6575452" y="5279726"/>
            <a:ext cx="130256" cy="173675"/>
          </a:xfrm>
          <a:custGeom>
            <a:avLst/>
            <a:gdLst/>
            <a:ahLst/>
            <a:cxnLst/>
            <a:rect l="l" t="t" r="r" b="b"/>
            <a:pathLst>
              <a:path w="130256" h="173675">
                <a:moveTo>
                  <a:pt x="46132" y="8141"/>
                </a:moveTo>
                <a:cubicBezTo>
                  <a:pt x="46132" y="-2343"/>
                  <a:pt x="54644" y="-10855"/>
                  <a:pt x="65128" y="-10855"/>
                </a:cubicBezTo>
                <a:cubicBezTo>
                  <a:pt x="75612" y="-10855"/>
                  <a:pt x="84124" y="-2343"/>
                  <a:pt x="84124" y="8141"/>
                </a:cubicBezTo>
                <a:cubicBezTo>
                  <a:pt x="84124" y="18625"/>
                  <a:pt x="75612" y="27137"/>
                  <a:pt x="65128" y="27137"/>
                </a:cubicBezTo>
                <a:cubicBezTo>
                  <a:pt x="54644" y="27137"/>
                  <a:pt x="46132" y="18625"/>
                  <a:pt x="46132" y="8141"/>
                </a:cubicBezTo>
                <a:close/>
                <a:moveTo>
                  <a:pt x="37991" y="130256"/>
                </a:moveTo>
                <a:lnTo>
                  <a:pt x="29240" y="130256"/>
                </a:lnTo>
                <a:cubicBezTo>
                  <a:pt x="25542" y="130256"/>
                  <a:pt x="22931" y="126627"/>
                  <a:pt x="24084" y="123099"/>
                </a:cubicBezTo>
                <a:lnTo>
                  <a:pt x="38670" y="79341"/>
                </a:lnTo>
                <a:lnTo>
                  <a:pt x="22286" y="101424"/>
                </a:lnTo>
                <a:cubicBezTo>
                  <a:pt x="18724" y="106240"/>
                  <a:pt x="11906" y="107258"/>
                  <a:pt x="7089" y="103662"/>
                </a:cubicBezTo>
                <a:cubicBezTo>
                  <a:pt x="2273" y="100067"/>
                  <a:pt x="1255" y="93283"/>
                  <a:pt x="4851" y="88466"/>
                </a:cubicBezTo>
                <a:lnTo>
                  <a:pt x="28765" y="56241"/>
                </a:lnTo>
                <a:cubicBezTo>
                  <a:pt x="37313" y="44776"/>
                  <a:pt x="50780" y="37991"/>
                  <a:pt x="65128" y="37991"/>
                </a:cubicBezTo>
                <a:cubicBezTo>
                  <a:pt x="79477" y="37991"/>
                  <a:pt x="92943" y="44776"/>
                  <a:pt x="101491" y="56275"/>
                </a:cubicBezTo>
                <a:lnTo>
                  <a:pt x="125406" y="88500"/>
                </a:lnTo>
                <a:cubicBezTo>
                  <a:pt x="128967" y="93317"/>
                  <a:pt x="127984" y="100101"/>
                  <a:pt x="123167" y="103696"/>
                </a:cubicBezTo>
                <a:cubicBezTo>
                  <a:pt x="118350" y="107292"/>
                  <a:pt x="111566" y="106274"/>
                  <a:pt x="107970" y="101458"/>
                </a:cubicBezTo>
                <a:lnTo>
                  <a:pt x="91587" y="79375"/>
                </a:lnTo>
                <a:lnTo>
                  <a:pt x="106173" y="123099"/>
                </a:lnTo>
                <a:cubicBezTo>
                  <a:pt x="107360" y="126627"/>
                  <a:pt x="104714" y="130256"/>
                  <a:pt x="101017" y="130256"/>
                </a:cubicBezTo>
                <a:lnTo>
                  <a:pt x="92265" y="130256"/>
                </a:lnTo>
                <a:lnTo>
                  <a:pt x="92265" y="173675"/>
                </a:lnTo>
                <a:cubicBezTo>
                  <a:pt x="92265" y="179679"/>
                  <a:pt x="87414" y="184530"/>
                  <a:pt x="81410" y="184530"/>
                </a:cubicBezTo>
                <a:cubicBezTo>
                  <a:pt x="75406" y="184530"/>
                  <a:pt x="70556" y="179679"/>
                  <a:pt x="70556" y="173675"/>
                </a:cubicBezTo>
                <a:lnTo>
                  <a:pt x="70556" y="130256"/>
                </a:lnTo>
                <a:lnTo>
                  <a:pt x="59701" y="130256"/>
                </a:lnTo>
                <a:lnTo>
                  <a:pt x="59701" y="173675"/>
                </a:lnTo>
                <a:cubicBezTo>
                  <a:pt x="59701" y="179679"/>
                  <a:pt x="54850" y="184530"/>
                  <a:pt x="48846" y="184530"/>
                </a:cubicBezTo>
                <a:cubicBezTo>
                  <a:pt x="42842" y="184530"/>
                  <a:pt x="37991" y="179679"/>
                  <a:pt x="37991" y="173675"/>
                </a:cubicBezTo>
                <a:lnTo>
                  <a:pt x="37991" y="130256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5" name="Text 42"/>
          <p:cNvSpPr/>
          <p:nvPr/>
        </p:nvSpPr>
        <p:spPr>
          <a:xfrm>
            <a:off x="6853333" y="5244991"/>
            <a:ext cx="179753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Women's Cricket Growth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532034" y="5557607"/>
            <a:ext cx="5071316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2M+ searches for women's matches indicate rapidly growing interest and viewership in women's cricket.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files.idyllic.app/04f0b8e05c2ac6fa0c06f118c663a0f37ca43910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31679" b="3167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8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552575"/>
            <a:ext cx="53244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000375"/>
            <a:ext cx="5000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Trends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6577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5000625"/>
            <a:ext cx="482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Movements &amp; Investment Interest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900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&amp; INVESTMENT TRENDS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72992"/>
            <a:ext cx="11698590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Markets Drive Significant Search Activity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8329" y="1018653"/>
            <a:ext cx="5698089" cy="1750809"/>
          </a:xfrm>
          <a:custGeom>
            <a:avLst/>
            <a:gdLst/>
            <a:ahLst/>
            <a:cxnLst/>
            <a:rect l="l" t="t" r="r" b="b"/>
            <a:pathLst>
              <a:path w="5698089" h="1750809">
                <a:moveTo>
                  <a:pt x="63659" y="0"/>
                </a:moveTo>
                <a:lnTo>
                  <a:pt x="5634429" y="0"/>
                </a:lnTo>
                <a:cubicBezTo>
                  <a:pt x="5669587" y="0"/>
                  <a:pt x="5698089" y="28501"/>
                  <a:pt x="5698089" y="63659"/>
                </a:cubicBezTo>
                <a:lnTo>
                  <a:pt x="5698089" y="1687150"/>
                </a:lnTo>
                <a:cubicBezTo>
                  <a:pt x="5698089" y="1722308"/>
                  <a:pt x="5669587" y="1750809"/>
                  <a:pt x="5634429" y="1750809"/>
                </a:cubicBezTo>
                <a:lnTo>
                  <a:pt x="63659" y="1750809"/>
                </a:lnTo>
                <a:cubicBezTo>
                  <a:pt x="28501" y="1750809"/>
                  <a:pt x="0" y="1722308"/>
                  <a:pt x="0" y="1687150"/>
                </a:cubicBezTo>
                <a:lnTo>
                  <a:pt x="0" y="63659"/>
                </a:lnTo>
                <a:cubicBezTo>
                  <a:pt x="0" y="28525"/>
                  <a:pt x="28525" y="0"/>
                  <a:pt x="63659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77493" y="1177817"/>
            <a:ext cx="2411342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Category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92344" y="1185678"/>
            <a:ext cx="238747" cy="238747"/>
          </a:xfrm>
          <a:custGeom>
            <a:avLst/>
            <a:gdLst/>
            <a:ahLst/>
            <a:cxnLst/>
            <a:rect l="l" t="t" r="r" b="b"/>
            <a:pathLst>
              <a:path w="238747" h="238747">
                <a:moveTo>
                  <a:pt x="29843" y="29843"/>
                </a:moveTo>
                <a:cubicBezTo>
                  <a:pt x="29843" y="21590"/>
                  <a:pt x="23175" y="14922"/>
                  <a:pt x="14922" y="14922"/>
                </a:cubicBezTo>
                <a:cubicBezTo>
                  <a:pt x="6668" y="14922"/>
                  <a:pt x="0" y="21590"/>
                  <a:pt x="0" y="29843"/>
                </a:cubicBezTo>
                <a:lnTo>
                  <a:pt x="0" y="186521"/>
                </a:lnTo>
                <a:cubicBezTo>
                  <a:pt x="0" y="207131"/>
                  <a:pt x="16694" y="223825"/>
                  <a:pt x="37304" y="223825"/>
                </a:cubicBezTo>
                <a:lnTo>
                  <a:pt x="223825" y="223825"/>
                </a:lnTo>
                <a:cubicBezTo>
                  <a:pt x="232079" y="223825"/>
                  <a:pt x="238747" y="217157"/>
                  <a:pt x="238747" y="208903"/>
                </a:cubicBezTo>
                <a:cubicBezTo>
                  <a:pt x="238747" y="200650"/>
                  <a:pt x="232079" y="193982"/>
                  <a:pt x="223825" y="193982"/>
                </a:cubicBezTo>
                <a:lnTo>
                  <a:pt x="37304" y="193982"/>
                </a:lnTo>
                <a:cubicBezTo>
                  <a:pt x="33201" y="193982"/>
                  <a:pt x="29843" y="190624"/>
                  <a:pt x="29843" y="186521"/>
                </a:cubicBezTo>
                <a:lnTo>
                  <a:pt x="29843" y="29843"/>
                </a:lnTo>
                <a:close/>
                <a:moveTo>
                  <a:pt x="219442" y="70225"/>
                </a:moveTo>
                <a:cubicBezTo>
                  <a:pt x="225271" y="64396"/>
                  <a:pt x="225271" y="54930"/>
                  <a:pt x="219442" y="49102"/>
                </a:cubicBezTo>
                <a:cubicBezTo>
                  <a:pt x="213613" y="43273"/>
                  <a:pt x="204147" y="43273"/>
                  <a:pt x="198318" y="49102"/>
                </a:cubicBezTo>
                <a:lnTo>
                  <a:pt x="149217" y="98250"/>
                </a:lnTo>
                <a:lnTo>
                  <a:pt x="122451" y="71531"/>
                </a:lnTo>
                <a:cubicBezTo>
                  <a:pt x="116622" y="65702"/>
                  <a:pt x="107156" y="65702"/>
                  <a:pt x="101327" y="71531"/>
                </a:cubicBezTo>
                <a:lnTo>
                  <a:pt x="56562" y="116296"/>
                </a:lnTo>
                <a:cubicBezTo>
                  <a:pt x="50734" y="122125"/>
                  <a:pt x="50734" y="131590"/>
                  <a:pt x="56562" y="137419"/>
                </a:cubicBezTo>
                <a:cubicBezTo>
                  <a:pt x="62391" y="143248"/>
                  <a:pt x="71857" y="143248"/>
                  <a:pt x="77686" y="137419"/>
                </a:cubicBezTo>
                <a:lnTo>
                  <a:pt x="111913" y="103193"/>
                </a:lnTo>
                <a:lnTo>
                  <a:pt x="138678" y="129958"/>
                </a:lnTo>
                <a:cubicBezTo>
                  <a:pt x="144507" y="135787"/>
                  <a:pt x="153973" y="135787"/>
                  <a:pt x="159802" y="129958"/>
                </a:cubicBezTo>
                <a:lnTo>
                  <a:pt x="219488" y="70272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5"/>
          <p:cNvSpPr/>
          <p:nvPr/>
        </p:nvSpPr>
        <p:spPr>
          <a:xfrm>
            <a:off x="405869" y="1559715"/>
            <a:ext cx="1854266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6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9640" y="1909877"/>
            <a:ext cx="176672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42130" y="1559715"/>
            <a:ext cx="1854266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6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4.3M+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5901" y="1909877"/>
            <a:ext cx="176672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78391" y="1559715"/>
            <a:ext cx="1854266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6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2162" y="1909877"/>
            <a:ext cx="1766726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7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7493" y="2196373"/>
            <a:ext cx="5443426" cy="413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3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generates sustained search interest with IPOs, precious metals, and stock tracking leading the category. Festival season amplifies gold and silver searches.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8329" y="2896697"/>
            <a:ext cx="5698089" cy="3756282"/>
          </a:xfrm>
          <a:custGeom>
            <a:avLst/>
            <a:gdLst/>
            <a:ahLst/>
            <a:cxnLst/>
            <a:rect l="l" t="t" r="r" b="b"/>
            <a:pathLst>
              <a:path w="5698089" h="3756282">
                <a:moveTo>
                  <a:pt x="63669" y="0"/>
                </a:moveTo>
                <a:lnTo>
                  <a:pt x="5634420" y="0"/>
                </a:lnTo>
                <a:cubicBezTo>
                  <a:pt x="5669583" y="0"/>
                  <a:pt x="5698089" y="28506"/>
                  <a:pt x="5698089" y="63669"/>
                </a:cubicBezTo>
                <a:lnTo>
                  <a:pt x="5698089" y="3692613"/>
                </a:lnTo>
                <a:cubicBezTo>
                  <a:pt x="5698089" y="3727776"/>
                  <a:pt x="5669583" y="3756282"/>
                  <a:pt x="5634420" y="3756282"/>
                </a:cubicBezTo>
                <a:lnTo>
                  <a:pt x="63669" y="3756282"/>
                </a:lnTo>
                <a:cubicBezTo>
                  <a:pt x="28506" y="3756282"/>
                  <a:pt x="0" y="3727776"/>
                  <a:pt x="0" y="3692613"/>
                </a:cubicBezTo>
                <a:lnTo>
                  <a:pt x="0" y="63669"/>
                </a:lnTo>
                <a:cubicBezTo>
                  <a:pt x="0" y="28529"/>
                  <a:pt x="28529" y="0"/>
                  <a:pt x="6366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749" dist="31833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493" y="3055861"/>
            <a:ext cx="5459342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Financial Queries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7493" y="3406023"/>
            <a:ext cx="5379760" cy="541159"/>
          </a:xfrm>
          <a:custGeom>
            <a:avLst/>
            <a:gdLst/>
            <a:ahLst/>
            <a:cxnLst/>
            <a:rect l="l" t="t" r="r" b="b"/>
            <a:pathLst>
              <a:path w="5379760" h="541159">
                <a:moveTo>
                  <a:pt x="31831" y="0"/>
                </a:moveTo>
                <a:lnTo>
                  <a:pt x="5347929" y="0"/>
                </a:lnTo>
                <a:cubicBezTo>
                  <a:pt x="5365509" y="0"/>
                  <a:pt x="5379760" y="14251"/>
                  <a:pt x="5379760" y="31831"/>
                </a:cubicBezTo>
                <a:lnTo>
                  <a:pt x="5379760" y="509328"/>
                </a:lnTo>
                <a:cubicBezTo>
                  <a:pt x="5379760" y="526908"/>
                  <a:pt x="5365509" y="541159"/>
                  <a:pt x="5347929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7" name="Text 15"/>
          <p:cNvSpPr/>
          <p:nvPr/>
        </p:nvSpPr>
        <p:spPr>
          <a:xfrm>
            <a:off x="572992" y="3501522"/>
            <a:ext cx="124148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Waaree Energies IPO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2992" y="3692519"/>
            <a:ext cx="1233525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Allotment Status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76278" y="3549271"/>
            <a:ext cx="485452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2M+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7493" y="4042681"/>
            <a:ext cx="5379760" cy="541159"/>
          </a:xfrm>
          <a:custGeom>
            <a:avLst/>
            <a:gdLst/>
            <a:ahLst/>
            <a:cxnLst/>
            <a:rect l="l" t="t" r="r" b="b"/>
            <a:pathLst>
              <a:path w="5379760" h="541159">
                <a:moveTo>
                  <a:pt x="31831" y="0"/>
                </a:moveTo>
                <a:lnTo>
                  <a:pt x="5347929" y="0"/>
                </a:lnTo>
                <a:cubicBezTo>
                  <a:pt x="5365509" y="0"/>
                  <a:pt x="5379760" y="14251"/>
                  <a:pt x="5379760" y="31831"/>
                </a:cubicBezTo>
                <a:lnTo>
                  <a:pt x="5379760" y="509328"/>
                </a:lnTo>
                <a:cubicBezTo>
                  <a:pt x="5379760" y="526908"/>
                  <a:pt x="5365509" y="541159"/>
                  <a:pt x="5347929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1" name="Text 19"/>
          <p:cNvSpPr/>
          <p:nvPr/>
        </p:nvSpPr>
        <p:spPr>
          <a:xfrm>
            <a:off x="572992" y="4138180"/>
            <a:ext cx="101865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 Price Today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2992" y="4329177"/>
            <a:ext cx="1010695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Daily tracking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87370" y="4185929"/>
            <a:ext cx="668491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500K+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7493" y="4679339"/>
            <a:ext cx="5379760" cy="541159"/>
          </a:xfrm>
          <a:custGeom>
            <a:avLst/>
            <a:gdLst/>
            <a:ahLst/>
            <a:cxnLst/>
            <a:rect l="l" t="t" r="r" b="b"/>
            <a:pathLst>
              <a:path w="5379760" h="541159">
                <a:moveTo>
                  <a:pt x="31831" y="0"/>
                </a:moveTo>
                <a:lnTo>
                  <a:pt x="5347929" y="0"/>
                </a:lnTo>
                <a:cubicBezTo>
                  <a:pt x="5365509" y="0"/>
                  <a:pt x="5379760" y="14251"/>
                  <a:pt x="5379760" y="31831"/>
                </a:cubicBezTo>
                <a:lnTo>
                  <a:pt x="5379760" y="509328"/>
                </a:lnTo>
                <a:cubicBezTo>
                  <a:pt x="5379760" y="526908"/>
                  <a:pt x="5365509" y="541159"/>
                  <a:pt x="5347929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5" name="Text 23"/>
          <p:cNvSpPr/>
          <p:nvPr/>
        </p:nvSpPr>
        <p:spPr>
          <a:xfrm>
            <a:off x="572992" y="4774838"/>
            <a:ext cx="99477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Elcid Investment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2992" y="4965835"/>
            <a:ext cx="98682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 price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2570" y="4838503"/>
            <a:ext cx="55707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7493" y="5315997"/>
            <a:ext cx="5379760" cy="541159"/>
          </a:xfrm>
          <a:custGeom>
            <a:avLst/>
            <a:gdLst/>
            <a:ahLst/>
            <a:cxnLst/>
            <a:rect l="l" t="t" r="r" b="b"/>
            <a:pathLst>
              <a:path w="5379760" h="541159">
                <a:moveTo>
                  <a:pt x="31831" y="0"/>
                </a:moveTo>
                <a:lnTo>
                  <a:pt x="5347929" y="0"/>
                </a:lnTo>
                <a:cubicBezTo>
                  <a:pt x="5365509" y="0"/>
                  <a:pt x="5379760" y="14251"/>
                  <a:pt x="5379760" y="31831"/>
                </a:cubicBezTo>
                <a:lnTo>
                  <a:pt x="5379760" y="509328"/>
                </a:lnTo>
                <a:cubicBezTo>
                  <a:pt x="5379760" y="526908"/>
                  <a:pt x="5365509" y="541159"/>
                  <a:pt x="5347929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9" name="Text 27"/>
          <p:cNvSpPr/>
          <p:nvPr/>
        </p:nvSpPr>
        <p:spPr>
          <a:xfrm>
            <a:off x="572992" y="5411496"/>
            <a:ext cx="1034569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Silver Rate Today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2992" y="5602493"/>
            <a:ext cx="1026611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Precious metals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82570" y="5475161"/>
            <a:ext cx="55707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7493" y="5952655"/>
            <a:ext cx="5379760" cy="541159"/>
          </a:xfrm>
          <a:custGeom>
            <a:avLst/>
            <a:gdLst/>
            <a:ahLst/>
            <a:cxnLst/>
            <a:rect l="l" t="t" r="r" b="b"/>
            <a:pathLst>
              <a:path w="5379760" h="541159">
                <a:moveTo>
                  <a:pt x="31831" y="0"/>
                </a:moveTo>
                <a:lnTo>
                  <a:pt x="5347929" y="0"/>
                </a:lnTo>
                <a:cubicBezTo>
                  <a:pt x="5365509" y="0"/>
                  <a:pt x="5379760" y="14251"/>
                  <a:pt x="5379760" y="31831"/>
                </a:cubicBezTo>
                <a:lnTo>
                  <a:pt x="5379760" y="509328"/>
                </a:lnTo>
                <a:cubicBezTo>
                  <a:pt x="5379760" y="526908"/>
                  <a:pt x="5365509" y="541159"/>
                  <a:pt x="5347929" y="541159"/>
                </a:cubicBezTo>
                <a:lnTo>
                  <a:pt x="31831" y="541159"/>
                </a:lnTo>
                <a:cubicBezTo>
                  <a:pt x="14251" y="541159"/>
                  <a:pt x="0" y="526908"/>
                  <a:pt x="0" y="509328"/>
                </a:cubicBezTo>
                <a:lnTo>
                  <a:pt x="0" y="31831"/>
                </a:lnTo>
                <a:cubicBezTo>
                  <a:pt x="0" y="14263"/>
                  <a:pt x="14263" y="0"/>
                  <a:pt x="31831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3" name="Text 31"/>
          <p:cNvSpPr/>
          <p:nvPr/>
        </p:nvSpPr>
        <p:spPr>
          <a:xfrm>
            <a:off x="572992" y="6048154"/>
            <a:ext cx="99477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Muhurat Trading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2992" y="6239151"/>
            <a:ext cx="98682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2024 timing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11419" y="6111819"/>
            <a:ext cx="53320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7274" y="1018653"/>
            <a:ext cx="5698089" cy="2896794"/>
          </a:xfrm>
          <a:custGeom>
            <a:avLst/>
            <a:gdLst/>
            <a:ahLst/>
            <a:cxnLst/>
            <a:rect l="l" t="t" r="r" b="b"/>
            <a:pathLst>
              <a:path w="5698089" h="2896794">
                <a:moveTo>
                  <a:pt x="63672" y="0"/>
                </a:moveTo>
                <a:lnTo>
                  <a:pt x="5634417" y="0"/>
                </a:lnTo>
                <a:cubicBezTo>
                  <a:pt x="5669582" y="0"/>
                  <a:pt x="5698089" y="28507"/>
                  <a:pt x="5698089" y="63672"/>
                </a:cubicBezTo>
                <a:lnTo>
                  <a:pt x="5698089" y="2833122"/>
                </a:lnTo>
                <a:cubicBezTo>
                  <a:pt x="5698089" y="2868287"/>
                  <a:pt x="5669582" y="2896794"/>
                  <a:pt x="5634417" y="2896794"/>
                </a:cubicBezTo>
                <a:lnTo>
                  <a:pt x="63672" y="2896794"/>
                </a:lnTo>
                <a:cubicBezTo>
                  <a:pt x="28507" y="2896794"/>
                  <a:pt x="0" y="2868287"/>
                  <a:pt x="0" y="2833122"/>
                </a:cubicBezTo>
                <a:lnTo>
                  <a:pt x="0" y="63672"/>
                </a:lnTo>
                <a:cubicBezTo>
                  <a:pt x="0" y="28530"/>
                  <a:pt x="28530" y="0"/>
                  <a:pt x="636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749" dist="31833" dir="5400000">
              <a:srgbClr val="000000">
                <a:alpha val="10196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36438" y="1177817"/>
            <a:ext cx="5459342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Sub-Categories</a:t>
            </a:r>
            <a:endParaRPr lang="en-US" sz="1600" dirty="0"/>
          </a:p>
        </p:txBody>
      </p:sp>
      <p:pic>
        <p:nvPicPr>
          <p:cNvPr id="38" name="Image 0" descr="https://kimi-img.moonshot.cn/pub/slides/26-02-28-04:20:56-d6gvpa7pma9n9o0vjleg.png">    </p:cNvPr>
          <p:cNvPicPr>
            <a:picLocks noChangeAspect="1"/>
          </p:cNvPicPr>
          <p:nvPr/>
        </p:nvPicPr>
        <p:blipFill>
          <a:blip r:embed="rId1"/>
          <a:srcRect l="0" r="0" t="36" b="36"/>
          <a:stretch/>
        </p:blipFill>
        <p:spPr>
          <a:xfrm>
            <a:off x="6336438" y="1527979"/>
            <a:ext cx="4377023" cy="2228303"/>
          </a:xfrm>
          <a:prstGeom prst="roundRect">
            <a:avLst>
              <a:gd name="adj" fmla="val 0"/>
            </a:avLst>
          </a:prstGeom>
        </p:spPr>
      </p:pic>
      <p:sp>
        <p:nvSpPr>
          <p:cNvPr id="39" name="Shape 36"/>
          <p:cNvSpPr/>
          <p:nvPr/>
        </p:nvSpPr>
        <p:spPr>
          <a:xfrm>
            <a:off x="6177274" y="4042778"/>
            <a:ext cx="5698089" cy="2610298"/>
          </a:xfrm>
          <a:custGeom>
            <a:avLst/>
            <a:gdLst/>
            <a:ahLst/>
            <a:cxnLst/>
            <a:rect l="l" t="t" r="r" b="b"/>
            <a:pathLst>
              <a:path w="5698089" h="2610298">
                <a:moveTo>
                  <a:pt x="63665" y="0"/>
                </a:moveTo>
                <a:lnTo>
                  <a:pt x="5634424" y="0"/>
                </a:lnTo>
                <a:cubicBezTo>
                  <a:pt x="5669585" y="0"/>
                  <a:pt x="5698089" y="28504"/>
                  <a:pt x="5698089" y="63665"/>
                </a:cubicBezTo>
                <a:lnTo>
                  <a:pt x="5698089" y="2546632"/>
                </a:lnTo>
                <a:cubicBezTo>
                  <a:pt x="5698089" y="2581794"/>
                  <a:pt x="5669585" y="2610298"/>
                  <a:pt x="5634424" y="2610298"/>
                </a:cubicBezTo>
                <a:lnTo>
                  <a:pt x="63665" y="2610298"/>
                </a:lnTo>
                <a:cubicBezTo>
                  <a:pt x="28504" y="2610298"/>
                  <a:pt x="0" y="2581794"/>
                  <a:pt x="0" y="2546632"/>
                </a:cubicBezTo>
                <a:lnTo>
                  <a:pt x="0" y="63665"/>
                </a:lnTo>
                <a:cubicBezTo>
                  <a:pt x="0" y="28527"/>
                  <a:pt x="28527" y="0"/>
                  <a:pt x="63665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0" name="Text 37"/>
          <p:cNvSpPr/>
          <p:nvPr/>
        </p:nvSpPr>
        <p:spPr>
          <a:xfrm>
            <a:off x="6336438" y="4201943"/>
            <a:ext cx="5459342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Financial Insights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36438" y="4583937"/>
            <a:ext cx="159164" cy="159164"/>
          </a:xfrm>
          <a:custGeom>
            <a:avLst/>
            <a:gdLst/>
            <a:ahLst/>
            <a:cxnLst/>
            <a:rect l="l" t="t" r="r" b="b"/>
            <a:pathLst>
              <a:path w="159164" h="159164">
                <a:moveTo>
                  <a:pt x="39791" y="99478"/>
                </a:moveTo>
                <a:lnTo>
                  <a:pt x="7616" y="99478"/>
                </a:lnTo>
                <a:cubicBezTo>
                  <a:pt x="-124" y="99478"/>
                  <a:pt x="-4881" y="91053"/>
                  <a:pt x="-902" y="84401"/>
                </a:cubicBezTo>
                <a:lnTo>
                  <a:pt x="15543" y="56982"/>
                </a:lnTo>
                <a:cubicBezTo>
                  <a:pt x="18248" y="52475"/>
                  <a:pt x="23098" y="49739"/>
                  <a:pt x="28351" y="49739"/>
                </a:cubicBezTo>
                <a:lnTo>
                  <a:pt x="57884" y="49739"/>
                </a:lnTo>
                <a:cubicBezTo>
                  <a:pt x="81541" y="9668"/>
                  <a:pt x="116824" y="7647"/>
                  <a:pt x="140419" y="11098"/>
                </a:cubicBezTo>
                <a:cubicBezTo>
                  <a:pt x="144398" y="11689"/>
                  <a:pt x="147507" y="14797"/>
                  <a:pt x="148066" y="18745"/>
                </a:cubicBezTo>
                <a:cubicBezTo>
                  <a:pt x="151517" y="42340"/>
                  <a:pt x="149496" y="77624"/>
                  <a:pt x="109426" y="101281"/>
                </a:cubicBezTo>
                <a:lnTo>
                  <a:pt x="109426" y="130813"/>
                </a:lnTo>
                <a:cubicBezTo>
                  <a:pt x="109426" y="136067"/>
                  <a:pt x="106690" y="140917"/>
                  <a:pt x="102182" y="143621"/>
                </a:cubicBezTo>
                <a:lnTo>
                  <a:pt x="74764" y="160066"/>
                </a:lnTo>
                <a:cubicBezTo>
                  <a:pt x="68142" y="164045"/>
                  <a:pt x="59687" y="159258"/>
                  <a:pt x="59687" y="151548"/>
                </a:cubicBezTo>
                <a:lnTo>
                  <a:pt x="59687" y="119373"/>
                </a:lnTo>
                <a:cubicBezTo>
                  <a:pt x="59687" y="108400"/>
                  <a:pt x="50765" y="99478"/>
                  <a:pt x="39791" y="99478"/>
                </a:cubicBezTo>
                <a:lnTo>
                  <a:pt x="39760" y="99478"/>
                </a:lnTo>
                <a:close/>
                <a:moveTo>
                  <a:pt x="124347" y="49739"/>
                </a:moveTo>
                <a:cubicBezTo>
                  <a:pt x="124347" y="41503"/>
                  <a:pt x="117661" y="34817"/>
                  <a:pt x="109426" y="34817"/>
                </a:cubicBezTo>
                <a:cubicBezTo>
                  <a:pt x="101190" y="34817"/>
                  <a:pt x="94504" y="41503"/>
                  <a:pt x="94504" y="49739"/>
                </a:cubicBezTo>
                <a:cubicBezTo>
                  <a:pt x="94504" y="57974"/>
                  <a:pt x="101190" y="64661"/>
                  <a:pt x="109426" y="64661"/>
                </a:cubicBezTo>
                <a:cubicBezTo>
                  <a:pt x="117661" y="64661"/>
                  <a:pt x="124347" y="57974"/>
                  <a:pt x="124347" y="497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39"/>
          <p:cNvSpPr/>
          <p:nvPr/>
        </p:nvSpPr>
        <p:spPr>
          <a:xfrm>
            <a:off x="6587520" y="4552104"/>
            <a:ext cx="520467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IPO Frenzy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587520" y="4806768"/>
            <a:ext cx="5196721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Waaree Energies IPO generated 2M+ searches, indicating massive retail investor participation and market enthusiasm.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48375" y="5316094"/>
            <a:ext cx="159164" cy="159164"/>
          </a:xfrm>
          <a:custGeom>
            <a:avLst/>
            <a:gdLst/>
            <a:ahLst/>
            <a:cxnLst/>
            <a:rect l="l" t="t" r="r" b="b"/>
            <a:pathLst>
              <a:path w="159164" h="159164">
                <a:moveTo>
                  <a:pt x="36278" y="10507"/>
                </a:moveTo>
                <a:cubicBezTo>
                  <a:pt x="37677" y="8611"/>
                  <a:pt x="39915" y="7461"/>
                  <a:pt x="42278" y="7461"/>
                </a:cubicBezTo>
                <a:lnTo>
                  <a:pt x="116886" y="7461"/>
                </a:lnTo>
                <a:cubicBezTo>
                  <a:pt x="119249" y="7461"/>
                  <a:pt x="121487" y="8580"/>
                  <a:pt x="122886" y="10507"/>
                </a:cubicBezTo>
                <a:lnTo>
                  <a:pt x="157703" y="57759"/>
                </a:lnTo>
                <a:cubicBezTo>
                  <a:pt x="159817" y="60619"/>
                  <a:pt x="159600" y="64567"/>
                  <a:pt x="157237" y="67210"/>
                </a:cubicBezTo>
                <a:lnTo>
                  <a:pt x="85116" y="146792"/>
                </a:lnTo>
                <a:cubicBezTo>
                  <a:pt x="83717" y="148346"/>
                  <a:pt x="81696" y="149248"/>
                  <a:pt x="79582" y="149248"/>
                </a:cubicBezTo>
                <a:cubicBezTo>
                  <a:pt x="77468" y="149248"/>
                  <a:pt x="75479" y="148346"/>
                  <a:pt x="74049" y="146792"/>
                </a:cubicBezTo>
                <a:lnTo>
                  <a:pt x="1927" y="67210"/>
                </a:lnTo>
                <a:cubicBezTo>
                  <a:pt x="-466" y="64567"/>
                  <a:pt x="-653" y="60619"/>
                  <a:pt x="1461" y="57759"/>
                </a:cubicBezTo>
                <a:lnTo>
                  <a:pt x="36278" y="10507"/>
                </a:lnTo>
                <a:close/>
                <a:moveTo>
                  <a:pt x="48247" y="22880"/>
                </a:moveTo>
                <a:cubicBezTo>
                  <a:pt x="47221" y="23657"/>
                  <a:pt x="46941" y="25056"/>
                  <a:pt x="47594" y="26144"/>
                </a:cubicBezTo>
                <a:lnTo>
                  <a:pt x="65438" y="55894"/>
                </a:lnTo>
                <a:lnTo>
                  <a:pt x="19678" y="59687"/>
                </a:lnTo>
                <a:cubicBezTo>
                  <a:pt x="18403" y="59780"/>
                  <a:pt x="17409" y="60868"/>
                  <a:pt x="17409" y="62174"/>
                </a:cubicBezTo>
                <a:cubicBezTo>
                  <a:pt x="17409" y="63479"/>
                  <a:pt x="18403" y="64536"/>
                  <a:pt x="19678" y="64661"/>
                </a:cubicBezTo>
                <a:lnTo>
                  <a:pt x="79365" y="69634"/>
                </a:lnTo>
                <a:cubicBezTo>
                  <a:pt x="79489" y="69634"/>
                  <a:pt x="79644" y="69634"/>
                  <a:pt x="79769" y="69634"/>
                </a:cubicBezTo>
                <a:lnTo>
                  <a:pt x="139455" y="64661"/>
                </a:lnTo>
                <a:cubicBezTo>
                  <a:pt x="140730" y="64567"/>
                  <a:pt x="141725" y="63479"/>
                  <a:pt x="141725" y="62174"/>
                </a:cubicBezTo>
                <a:cubicBezTo>
                  <a:pt x="141725" y="60868"/>
                  <a:pt x="140730" y="59811"/>
                  <a:pt x="139455" y="59687"/>
                </a:cubicBezTo>
                <a:lnTo>
                  <a:pt x="93696" y="55863"/>
                </a:lnTo>
                <a:lnTo>
                  <a:pt x="111539" y="26144"/>
                </a:lnTo>
                <a:cubicBezTo>
                  <a:pt x="112192" y="25056"/>
                  <a:pt x="111913" y="23626"/>
                  <a:pt x="110887" y="22880"/>
                </a:cubicBezTo>
                <a:cubicBezTo>
                  <a:pt x="109861" y="22134"/>
                  <a:pt x="108431" y="22258"/>
                  <a:pt x="107560" y="23191"/>
                </a:cubicBezTo>
                <a:lnTo>
                  <a:pt x="79582" y="53531"/>
                </a:lnTo>
                <a:lnTo>
                  <a:pt x="51573" y="23191"/>
                </a:lnTo>
                <a:cubicBezTo>
                  <a:pt x="50703" y="22258"/>
                  <a:pt x="49273" y="22134"/>
                  <a:pt x="48247" y="228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6617065" y="5284261"/>
            <a:ext cx="5172846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Gold Rush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617065" y="5538924"/>
            <a:ext cx="5164888" cy="381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Gold and silver searches spike during Dhanteras and Diwali, reflecting cultural investment patterns.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56334" y="6048251"/>
            <a:ext cx="159164" cy="159164"/>
          </a:xfrm>
          <a:custGeom>
            <a:avLst/>
            <a:gdLst/>
            <a:ahLst/>
            <a:cxnLst/>
            <a:rect l="l" t="t" r="r" b="b"/>
            <a:pathLst>
              <a:path w="159164" h="159164">
                <a:moveTo>
                  <a:pt x="9948" y="9948"/>
                </a:moveTo>
                <a:cubicBezTo>
                  <a:pt x="15450" y="9948"/>
                  <a:pt x="19896" y="14393"/>
                  <a:pt x="19896" y="19896"/>
                </a:cubicBezTo>
                <a:lnTo>
                  <a:pt x="19896" y="124347"/>
                </a:lnTo>
                <a:cubicBezTo>
                  <a:pt x="19896" y="127083"/>
                  <a:pt x="22134" y="129321"/>
                  <a:pt x="24869" y="129321"/>
                </a:cubicBezTo>
                <a:lnTo>
                  <a:pt x="149217" y="129321"/>
                </a:lnTo>
                <a:cubicBezTo>
                  <a:pt x="154719" y="129321"/>
                  <a:pt x="159164" y="133767"/>
                  <a:pt x="159164" y="139269"/>
                </a:cubicBezTo>
                <a:cubicBezTo>
                  <a:pt x="159164" y="144771"/>
                  <a:pt x="154719" y="149217"/>
                  <a:pt x="149217" y="149217"/>
                </a:cubicBezTo>
                <a:lnTo>
                  <a:pt x="24869" y="149217"/>
                </a:lnTo>
                <a:cubicBezTo>
                  <a:pt x="11129" y="149217"/>
                  <a:pt x="0" y="138088"/>
                  <a:pt x="0" y="124347"/>
                </a:cubicBezTo>
                <a:lnTo>
                  <a:pt x="0" y="19896"/>
                </a:lnTo>
                <a:cubicBezTo>
                  <a:pt x="0" y="14393"/>
                  <a:pt x="4445" y="9948"/>
                  <a:pt x="9948" y="9948"/>
                </a:cubicBezTo>
                <a:close/>
                <a:moveTo>
                  <a:pt x="39791" y="29843"/>
                </a:moveTo>
                <a:cubicBezTo>
                  <a:pt x="39791" y="24341"/>
                  <a:pt x="44237" y="19896"/>
                  <a:pt x="49739" y="19896"/>
                </a:cubicBezTo>
                <a:lnTo>
                  <a:pt x="109426" y="19896"/>
                </a:lnTo>
                <a:cubicBezTo>
                  <a:pt x="114928" y="19896"/>
                  <a:pt x="119373" y="24341"/>
                  <a:pt x="119373" y="29843"/>
                </a:cubicBezTo>
                <a:cubicBezTo>
                  <a:pt x="119373" y="35346"/>
                  <a:pt x="114928" y="39791"/>
                  <a:pt x="109426" y="39791"/>
                </a:cubicBezTo>
                <a:lnTo>
                  <a:pt x="49739" y="39791"/>
                </a:lnTo>
                <a:cubicBezTo>
                  <a:pt x="44237" y="39791"/>
                  <a:pt x="39791" y="35346"/>
                  <a:pt x="39791" y="29843"/>
                </a:cubicBezTo>
                <a:close/>
                <a:moveTo>
                  <a:pt x="49739" y="54713"/>
                </a:moveTo>
                <a:lnTo>
                  <a:pt x="89530" y="54713"/>
                </a:lnTo>
                <a:cubicBezTo>
                  <a:pt x="95032" y="54713"/>
                  <a:pt x="99478" y="59158"/>
                  <a:pt x="99478" y="64661"/>
                </a:cubicBezTo>
                <a:cubicBezTo>
                  <a:pt x="99478" y="70163"/>
                  <a:pt x="95032" y="74608"/>
                  <a:pt x="89530" y="74608"/>
                </a:cubicBezTo>
                <a:lnTo>
                  <a:pt x="49739" y="74608"/>
                </a:lnTo>
                <a:cubicBezTo>
                  <a:pt x="44237" y="74608"/>
                  <a:pt x="39791" y="70163"/>
                  <a:pt x="39791" y="64661"/>
                </a:cubicBezTo>
                <a:cubicBezTo>
                  <a:pt x="39791" y="59158"/>
                  <a:pt x="44237" y="54713"/>
                  <a:pt x="49739" y="54713"/>
                </a:cubicBezTo>
                <a:close/>
                <a:moveTo>
                  <a:pt x="49739" y="89530"/>
                </a:moveTo>
                <a:lnTo>
                  <a:pt x="129321" y="89530"/>
                </a:lnTo>
                <a:cubicBezTo>
                  <a:pt x="134824" y="89530"/>
                  <a:pt x="139269" y="93975"/>
                  <a:pt x="139269" y="99478"/>
                </a:cubicBezTo>
                <a:cubicBezTo>
                  <a:pt x="139269" y="104980"/>
                  <a:pt x="134824" y="109426"/>
                  <a:pt x="129321" y="109426"/>
                </a:cubicBezTo>
                <a:lnTo>
                  <a:pt x="49739" y="109426"/>
                </a:lnTo>
                <a:cubicBezTo>
                  <a:pt x="44237" y="109426"/>
                  <a:pt x="39791" y="104980"/>
                  <a:pt x="39791" y="99478"/>
                </a:cubicBezTo>
                <a:cubicBezTo>
                  <a:pt x="39791" y="93975"/>
                  <a:pt x="44237" y="89530"/>
                  <a:pt x="49739" y="895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5"/>
          <p:cNvSpPr/>
          <p:nvPr/>
        </p:nvSpPr>
        <p:spPr>
          <a:xfrm>
            <a:off x="6630892" y="6016418"/>
            <a:ext cx="4997765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Tracking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630892" y="6271081"/>
            <a:ext cx="498980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Individual stock queries (Reliance, Yes Bank, IndusInd) show active retail trading interest.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 &amp; INVESTMENT TRENDS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Patterns &amp; Market Sentiment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5699125" cy="3968750"/>
          </a:xfrm>
          <a:custGeom>
            <a:avLst/>
            <a:gdLst/>
            <a:ahLst/>
            <a:cxnLst/>
            <a:rect l="l" t="t" r="r" b="b"/>
            <a:pathLst>
              <a:path w="5699125" h="3968750">
                <a:moveTo>
                  <a:pt x="63500" y="0"/>
                </a:moveTo>
                <a:lnTo>
                  <a:pt x="5635625" y="0"/>
                </a:lnTo>
                <a:cubicBezTo>
                  <a:pt x="5670672" y="0"/>
                  <a:pt x="5699125" y="28453"/>
                  <a:pt x="5699125" y="63500"/>
                </a:cubicBezTo>
                <a:lnTo>
                  <a:pt x="5699125" y="3905250"/>
                </a:lnTo>
                <a:cubicBezTo>
                  <a:pt x="5699125" y="3940297"/>
                  <a:pt x="5670672" y="3968750"/>
                  <a:pt x="5635625" y="3968750"/>
                </a:cubicBezTo>
                <a:lnTo>
                  <a:pt x="63500" y="3968750"/>
                </a:lnTo>
                <a:cubicBezTo>
                  <a:pt x="28453" y="3968750"/>
                  <a:pt x="0" y="3940297"/>
                  <a:pt x="0" y="390525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6250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IPO Search Landscape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2125" y="15240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0" y="0"/>
                </a:moveTo>
                <a:lnTo>
                  <a:pt x="5365750" y="0"/>
                </a:lnTo>
                <a:lnTo>
                  <a:pt x="5365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7" name="Shape 5"/>
          <p:cNvSpPr/>
          <p:nvPr/>
        </p:nvSpPr>
        <p:spPr>
          <a:xfrm>
            <a:off x="492125" y="15240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35000" y="1644652"/>
            <a:ext cx="101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Waaree Energies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36009" y="1619250"/>
            <a:ext cx="404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000" y="1873250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Allotment status, share price, listing gains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2125" y="22225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0" y="0"/>
                </a:moveTo>
                <a:lnTo>
                  <a:pt x="5365750" y="0"/>
                </a:lnTo>
                <a:lnTo>
                  <a:pt x="5365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92125" y="22225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00" y="2343152"/>
            <a:ext cx="563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KFintech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78252" y="2317750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" y="2571750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IPO details, subscription status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125" y="29210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0" y="0"/>
                </a:moveTo>
                <a:lnTo>
                  <a:pt x="5365750" y="0"/>
                </a:lnTo>
                <a:lnTo>
                  <a:pt x="5365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125" y="29210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3035303"/>
            <a:ext cx="83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Danish Power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7357" y="3016250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" y="3270250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IPO information, GMP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125" y="361950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0" y="0"/>
                </a:moveTo>
                <a:lnTo>
                  <a:pt x="5365750" y="0"/>
                </a:lnTo>
                <a:lnTo>
                  <a:pt x="5365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2125" y="3619500"/>
            <a:ext cx="31750" cy="603250"/>
          </a:xfrm>
          <a:custGeom>
            <a:avLst/>
            <a:gdLst/>
            <a:ahLst/>
            <a:cxnLst/>
            <a:rect l="l" t="t" r="r" b="b"/>
            <a:pathLst>
              <a:path w="31750" h="603250">
                <a:moveTo>
                  <a:pt x="0" y="0"/>
                </a:moveTo>
                <a:lnTo>
                  <a:pt x="31750" y="0"/>
                </a:lnTo>
                <a:lnTo>
                  <a:pt x="31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35000" y="3733803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PS Raj Steels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17357" y="3714750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5000" y="3968750"/>
            <a:ext cx="527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SME IPO interest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250" y="4318000"/>
            <a:ext cx="5381625" cy="508000"/>
          </a:xfrm>
          <a:custGeom>
            <a:avLst/>
            <a:gdLst/>
            <a:ahLst/>
            <a:cxnLst/>
            <a:rect l="l" t="t" r="r" b="b"/>
            <a:pathLst>
              <a:path w="5381625" h="508000">
                <a:moveTo>
                  <a:pt x="31750" y="0"/>
                </a:moveTo>
                <a:lnTo>
                  <a:pt x="5349875" y="0"/>
                </a:lnTo>
                <a:cubicBezTo>
                  <a:pt x="5367398" y="0"/>
                  <a:pt x="5381625" y="14227"/>
                  <a:pt x="5381625" y="31750"/>
                </a:cubicBezTo>
                <a:lnTo>
                  <a:pt x="5381625" y="476250"/>
                </a:lnTo>
                <a:cubicBezTo>
                  <a:pt x="5381625" y="493773"/>
                  <a:pt x="5367398" y="508000"/>
                  <a:pt x="5349875" y="508000"/>
                </a:cubicBezTo>
                <a:lnTo>
                  <a:pt x="31750" y="508000"/>
                </a:lnTo>
                <a:cubicBezTo>
                  <a:pt x="14227" y="508000"/>
                  <a:pt x="0" y="493773"/>
                  <a:pt x="0" y="476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" y="4413250"/>
            <a:ext cx="52466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2D2D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IPO searches peak during subscription periods and listing days, with allotment status being the most searched query type.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17500" y="5111750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63496" y="0"/>
                </a:moveTo>
                <a:lnTo>
                  <a:pt x="5635629" y="0"/>
                </a:lnTo>
                <a:cubicBezTo>
                  <a:pt x="5670697" y="0"/>
                  <a:pt x="5699125" y="28428"/>
                  <a:pt x="5699125" y="63496"/>
                </a:cubicBezTo>
                <a:lnTo>
                  <a:pt x="5699125" y="2095504"/>
                </a:lnTo>
                <a:cubicBezTo>
                  <a:pt x="5699125" y="2130572"/>
                  <a:pt x="5670697" y="2159000"/>
                  <a:pt x="5635629" y="2159000"/>
                </a:cubicBezTo>
                <a:lnTo>
                  <a:pt x="63496" y="2159000"/>
                </a:lnTo>
                <a:cubicBezTo>
                  <a:pt x="28428" y="2159000"/>
                  <a:pt x="0" y="2130572"/>
                  <a:pt x="0" y="20955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6250" y="5270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Precious Metals During Festivals</a:t>
            </a:r>
            <a:endParaRPr lang="en-US" sz="1600" dirty="0"/>
          </a:p>
        </p:txBody>
      </p:sp>
      <p:pic>
        <p:nvPicPr>
          <p:cNvPr id="30" name="Image 0" descr="https://kimi-img.moonshot.cn/pub/slides/26-02-28-04:20:56-d6gvpa223rdckubk4amg.png">    </p:cNvPr>
          <p:cNvPicPr>
            <a:picLocks noChangeAspect="1"/>
          </p:cNvPicPr>
          <p:nvPr/>
        </p:nvPicPr>
        <p:blipFill>
          <a:blip r:embed="rId1"/>
          <a:srcRect l="0" r="0" t="36" b="36"/>
          <a:stretch/>
        </p:blipFill>
        <p:spPr>
          <a:xfrm>
            <a:off x="476250" y="5619750"/>
            <a:ext cx="4365625" cy="1270000"/>
          </a:xfrm>
          <a:prstGeom prst="roundRect">
            <a:avLst>
              <a:gd name="adj" fmla="val 0"/>
            </a:avLst>
          </a:prstGeom>
        </p:spPr>
      </p:pic>
      <p:sp>
        <p:nvSpPr>
          <p:cNvPr id="31" name="Shape 28"/>
          <p:cNvSpPr/>
          <p:nvPr/>
        </p:nvSpPr>
        <p:spPr>
          <a:xfrm>
            <a:off x="6175375" y="1016000"/>
            <a:ext cx="5699125" cy="4222750"/>
          </a:xfrm>
          <a:custGeom>
            <a:avLst/>
            <a:gdLst/>
            <a:ahLst/>
            <a:cxnLst/>
            <a:rect l="l" t="t" r="r" b="b"/>
            <a:pathLst>
              <a:path w="5699125" h="4222750">
                <a:moveTo>
                  <a:pt x="63510" y="0"/>
                </a:moveTo>
                <a:lnTo>
                  <a:pt x="5635615" y="0"/>
                </a:lnTo>
                <a:cubicBezTo>
                  <a:pt x="5670691" y="0"/>
                  <a:pt x="5699125" y="28434"/>
                  <a:pt x="5699125" y="63510"/>
                </a:cubicBezTo>
                <a:lnTo>
                  <a:pt x="5699125" y="4159240"/>
                </a:lnTo>
                <a:cubicBezTo>
                  <a:pt x="5699125" y="4194316"/>
                  <a:pt x="5670691" y="4222750"/>
                  <a:pt x="5635615" y="4222750"/>
                </a:cubicBezTo>
                <a:lnTo>
                  <a:pt x="63510" y="4222750"/>
                </a:lnTo>
                <a:cubicBezTo>
                  <a:pt x="28434" y="4222750"/>
                  <a:pt x="0" y="4194316"/>
                  <a:pt x="0" y="4159240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334125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Stock-Specific Search Interest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34125" y="1524000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4" name="Text 31"/>
          <p:cNvSpPr/>
          <p:nvPr/>
        </p:nvSpPr>
        <p:spPr>
          <a:xfrm>
            <a:off x="6429375" y="1638299"/>
            <a:ext cx="119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Reliance Share Price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214695" y="1619250"/>
            <a:ext cx="476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429375" y="19050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tracking of India's largest company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334125" y="2254250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8" name="Text 35"/>
          <p:cNvSpPr/>
          <p:nvPr/>
        </p:nvSpPr>
        <p:spPr>
          <a:xfrm>
            <a:off x="6429375" y="2368549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IndusInd Bank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80676" y="2349500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50K+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29375" y="26352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sector interest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34125" y="2984500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2" name="Text 39"/>
          <p:cNvSpPr/>
          <p:nvPr/>
        </p:nvSpPr>
        <p:spPr>
          <a:xfrm>
            <a:off x="6429375" y="3098803"/>
            <a:ext cx="92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IDFC First Bank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280676" y="3079750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50K+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429375" y="33655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banking focus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334125" y="3714750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46" name="Text 43"/>
          <p:cNvSpPr/>
          <p:nvPr/>
        </p:nvSpPr>
        <p:spPr>
          <a:xfrm>
            <a:off x="6429375" y="382905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Yes Bank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279981" y="3810000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429375" y="409575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Turnaround story interest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34125" y="4445000"/>
            <a:ext cx="5381625" cy="635000"/>
          </a:xfrm>
          <a:custGeom>
            <a:avLst/>
            <a:gdLst/>
            <a:ahLst/>
            <a:cxnLst/>
            <a:rect l="l" t="t" r="r" b="b"/>
            <a:pathLst>
              <a:path w="5381625" h="635000">
                <a:moveTo>
                  <a:pt x="63500" y="0"/>
                </a:moveTo>
                <a:lnTo>
                  <a:pt x="5318125" y="0"/>
                </a:lnTo>
                <a:cubicBezTo>
                  <a:pt x="5353172" y="0"/>
                  <a:pt x="5381625" y="28453"/>
                  <a:pt x="5381625" y="63500"/>
                </a:cubicBezTo>
                <a:lnTo>
                  <a:pt x="5381625" y="571500"/>
                </a:lnTo>
                <a:cubicBezTo>
                  <a:pt x="5381625" y="606547"/>
                  <a:pt x="5353172" y="635000"/>
                  <a:pt x="531812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50" name="Text 47"/>
          <p:cNvSpPr/>
          <p:nvPr/>
        </p:nvSpPr>
        <p:spPr>
          <a:xfrm>
            <a:off x="6429375" y="4559303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IRFC Share Price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11279981" y="4540250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429375" y="4826000"/>
            <a:ext cx="524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Railway finance PSU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175375" y="5365750"/>
            <a:ext cx="5699125" cy="1905000"/>
          </a:xfrm>
          <a:custGeom>
            <a:avLst/>
            <a:gdLst/>
            <a:ahLst/>
            <a:cxnLst/>
            <a:rect l="l" t="t" r="r" b="b"/>
            <a:pathLst>
              <a:path w="5699125" h="1905000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1841506"/>
                </a:lnTo>
                <a:cubicBezTo>
                  <a:pt x="5699125" y="1876573"/>
                  <a:pt x="5670698" y="1905000"/>
                  <a:pt x="5635631" y="1905000"/>
                </a:cubicBezTo>
                <a:lnTo>
                  <a:pt x="63494" y="1905000"/>
                </a:lnTo>
                <a:cubicBezTo>
                  <a:pt x="28427" y="1905000"/>
                  <a:pt x="0" y="1876573"/>
                  <a:pt x="0" y="184150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4" name="Text 51"/>
          <p:cNvSpPr/>
          <p:nvPr/>
        </p:nvSpPr>
        <p:spPr>
          <a:xfrm>
            <a:off x="6334125" y="55245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Cultural Finance Integration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29164" y="5873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8468" y="1312"/>
                </a:moveTo>
                <a:cubicBezTo>
                  <a:pt x="110198" y="-419"/>
                  <a:pt x="113044" y="-419"/>
                  <a:pt x="114774" y="1312"/>
                </a:cubicBezTo>
                <a:lnTo>
                  <a:pt x="119239" y="5776"/>
                </a:lnTo>
                <a:cubicBezTo>
                  <a:pt x="120969" y="7507"/>
                  <a:pt x="120969" y="10353"/>
                  <a:pt x="119239" y="12083"/>
                </a:cubicBezTo>
                <a:lnTo>
                  <a:pt x="114774" y="16548"/>
                </a:lnTo>
                <a:cubicBezTo>
                  <a:pt x="113044" y="18278"/>
                  <a:pt x="110198" y="18278"/>
                  <a:pt x="108468" y="16548"/>
                </a:cubicBezTo>
                <a:lnTo>
                  <a:pt x="104003" y="12083"/>
                </a:lnTo>
                <a:cubicBezTo>
                  <a:pt x="102273" y="10353"/>
                  <a:pt x="102273" y="7507"/>
                  <a:pt x="104003" y="5776"/>
                </a:cubicBezTo>
                <a:lnTo>
                  <a:pt x="108468" y="1312"/>
                </a:lnTo>
                <a:close/>
                <a:moveTo>
                  <a:pt x="49113" y="44648"/>
                </a:moveTo>
                <a:cubicBezTo>
                  <a:pt x="46100" y="44648"/>
                  <a:pt x="43309" y="45653"/>
                  <a:pt x="41077" y="47327"/>
                </a:cubicBezTo>
                <a:cubicBezTo>
                  <a:pt x="37142" y="50285"/>
                  <a:pt x="31533" y="49504"/>
                  <a:pt x="28575" y="45541"/>
                </a:cubicBezTo>
                <a:cubicBezTo>
                  <a:pt x="25617" y="41579"/>
                  <a:pt x="26398" y="35998"/>
                  <a:pt x="30361" y="33040"/>
                </a:cubicBezTo>
                <a:cubicBezTo>
                  <a:pt x="35579" y="29105"/>
                  <a:pt x="42081" y="26789"/>
                  <a:pt x="49113" y="26789"/>
                </a:cubicBezTo>
                <a:cubicBezTo>
                  <a:pt x="66387" y="26789"/>
                  <a:pt x="80367" y="40770"/>
                  <a:pt x="80367" y="58043"/>
                </a:cubicBezTo>
                <a:cubicBezTo>
                  <a:pt x="80367" y="62843"/>
                  <a:pt x="79279" y="67391"/>
                  <a:pt x="77353" y="71438"/>
                </a:cubicBezTo>
                <a:lnTo>
                  <a:pt x="91222" y="71438"/>
                </a:lnTo>
                <a:cubicBezTo>
                  <a:pt x="94766" y="71438"/>
                  <a:pt x="98171" y="70042"/>
                  <a:pt x="100682" y="67503"/>
                </a:cubicBezTo>
                <a:lnTo>
                  <a:pt x="106459" y="61726"/>
                </a:lnTo>
                <a:cubicBezTo>
                  <a:pt x="111677" y="56508"/>
                  <a:pt x="118765" y="53550"/>
                  <a:pt x="126160" y="53550"/>
                </a:cubicBezTo>
                <a:cubicBezTo>
                  <a:pt x="141563" y="53550"/>
                  <a:pt x="154037" y="66024"/>
                  <a:pt x="154037" y="81428"/>
                </a:cubicBezTo>
                <a:lnTo>
                  <a:pt x="154037" y="108245"/>
                </a:lnTo>
                <a:cubicBezTo>
                  <a:pt x="154037" y="123648"/>
                  <a:pt x="141536" y="136150"/>
                  <a:pt x="126132" y="136150"/>
                </a:cubicBezTo>
                <a:cubicBezTo>
                  <a:pt x="110728" y="136150"/>
                  <a:pt x="98227" y="123676"/>
                  <a:pt x="98227" y="108272"/>
                </a:cubicBezTo>
                <a:lnTo>
                  <a:pt x="98227" y="107156"/>
                </a:lnTo>
                <a:cubicBezTo>
                  <a:pt x="98227" y="102217"/>
                  <a:pt x="102217" y="98227"/>
                  <a:pt x="107156" y="98227"/>
                </a:cubicBezTo>
                <a:cubicBezTo>
                  <a:pt x="112095" y="98227"/>
                  <a:pt x="116086" y="102217"/>
                  <a:pt x="116086" y="107156"/>
                </a:cubicBezTo>
                <a:lnTo>
                  <a:pt x="116086" y="108272"/>
                </a:lnTo>
                <a:cubicBezTo>
                  <a:pt x="116086" y="113826"/>
                  <a:pt x="120579" y="118318"/>
                  <a:pt x="126132" y="118318"/>
                </a:cubicBezTo>
                <a:cubicBezTo>
                  <a:pt x="131685" y="118318"/>
                  <a:pt x="136178" y="113826"/>
                  <a:pt x="136178" y="108272"/>
                </a:cubicBezTo>
                <a:lnTo>
                  <a:pt x="136178" y="81455"/>
                </a:lnTo>
                <a:cubicBezTo>
                  <a:pt x="136178" y="75930"/>
                  <a:pt x="131685" y="71438"/>
                  <a:pt x="126160" y="71438"/>
                </a:cubicBezTo>
                <a:cubicBezTo>
                  <a:pt x="123509" y="71438"/>
                  <a:pt x="120969" y="72498"/>
                  <a:pt x="119072" y="74368"/>
                </a:cubicBezTo>
                <a:lnTo>
                  <a:pt x="113295" y="80144"/>
                </a:lnTo>
                <a:cubicBezTo>
                  <a:pt x="107435" y="86004"/>
                  <a:pt x="99510" y="89297"/>
                  <a:pt x="91222" y="89297"/>
                </a:cubicBezTo>
                <a:lnTo>
                  <a:pt x="83744" y="89297"/>
                </a:lnTo>
                <a:cubicBezTo>
                  <a:pt x="87260" y="94766"/>
                  <a:pt x="89297" y="101240"/>
                  <a:pt x="89297" y="108272"/>
                </a:cubicBezTo>
                <a:cubicBezTo>
                  <a:pt x="89297" y="129257"/>
                  <a:pt x="71158" y="145107"/>
                  <a:pt x="50229" y="145107"/>
                </a:cubicBezTo>
                <a:cubicBezTo>
                  <a:pt x="29301" y="145107"/>
                  <a:pt x="11162" y="129257"/>
                  <a:pt x="11162" y="108272"/>
                </a:cubicBezTo>
                <a:cubicBezTo>
                  <a:pt x="11162" y="103333"/>
                  <a:pt x="15153" y="99343"/>
                  <a:pt x="20092" y="99343"/>
                </a:cubicBezTo>
                <a:cubicBezTo>
                  <a:pt x="25031" y="99343"/>
                  <a:pt x="29021" y="103333"/>
                  <a:pt x="29021" y="108272"/>
                </a:cubicBezTo>
                <a:cubicBezTo>
                  <a:pt x="29021" y="118123"/>
                  <a:pt x="37867" y="127248"/>
                  <a:pt x="50229" y="127248"/>
                </a:cubicBezTo>
                <a:cubicBezTo>
                  <a:pt x="62592" y="127248"/>
                  <a:pt x="71438" y="118123"/>
                  <a:pt x="71438" y="108272"/>
                </a:cubicBezTo>
                <a:cubicBezTo>
                  <a:pt x="71438" y="98422"/>
                  <a:pt x="62592" y="89297"/>
                  <a:pt x="50229" y="89297"/>
                </a:cubicBezTo>
                <a:lnTo>
                  <a:pt x="44648" y="89297"/>
                </a:lnTo>
                <a:cubicBezTo>
                  <a:pt x="39709" y="89297"/>
                  <a:pt x="35719" y="85306"/>
                  <a:pt x="35719" y="80367"/>
                </a:cubicBezTo>
                <a:cubicBezTo>
                  <a:pt x="35719" y="75428"/>
                  <a:pt x="39709" y="71438"/>
                  <a:pt x="44648" y="71438"/>
                </a:cubicBezTo>
                <a:lnTo>
                  <a:pt x="49113" y="71438"/>
                </a:lnTo>
                <a:cubicBezTo>
                  <a:pt x="56508" y="71438"/>
                  <a:pt x="62508" y="65438"/>
                  <a:pt x="62508" y="58043"/>
                </a:cubicBezTo>
                <a:cubicBezTo>
                  <a:pt x="62508" y="50648"/>
                  <a:pt x="56508" y="44648"/>
                  <a:pt x="49113" y="44648"/>
                </a:cubicBezTo>
                <a:close/>
                <a:moveTo>
                  <a:pt x="94069" y="16771"/>
                </a:moveTo>
                <a:cubicBezTo>
                  <a:pt x="90999" y="12920"/>
                  <a:pt x="85390" y="12250"/>
                  <a:pt x="81511" y="15320"/>
                </a:cubicBezTo>
                <a:cubicBezTo>
                  <a:pt x="77632" y="18390"/>
                  <a:pt x="76991" y="23999"/>
                  <a:pt x="80060" y="27877"/>
                </a:cubicBezTo>
                <a:cubicBezTo>
                  <a:pt x="87232" y="36891"/>
                  <a:pt x="98896" y="42416"/>
                  <a:pt x="111621" y="42416"/>
                </a:cubicBezTo>
                <a:cubicBezTo>
                  <a:pt x="124346" y="42416"/>
                  <a:pt x="136010" y="36891"/>
                  <a:pt x="143182" y="27877"/>
                </a:cubicBezTo>
                <a:cubicBezTo>
                  <a:pt x="146252" y="24026"/>
                  <a:pt x="145610" y="18390"/>
                  <a:pt x="141731" y="15320"/>
                </a:cubicBezTo>
                <a:cubicBezTo>
                  <a:pt x="137852" y="12250"/>
                  <a:pt x="132243" y="12892"/>
                  <a:pt x="129174" y="16771"/>
                </a:cubicBezTo>
                <a:cubicBezTo>
                  <a:pt x="125657" y="21208"/>
                  <a:pt x="119295" y="24557"/>
                  <a:pt x="111621" y="24557"/>
                </a:cubicBezTo>
                <a:cubicBezTo>
                  <a:pt x="103947" y="24557"/>
                  <a:pt x="97585" y="21208"/>
                  <a:pt x="94069" y="1677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6" name="Text 53"/>
          <p:cNvSpPr/>
          <p:nvPr/>
        </p:nvSpPr>
        <p:spPr>
          <a:xfrm>
            <a:off x="6583065" y="5842000"/>
            <a:ext cx="5199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Muhurat Trading: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100K+ searches for Diwali trading timings show cultural integration with financial markets.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342063" y="631825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26789"/>
                </a:moveTo>
                <a:lnTo>
                  <a:pt x="35719" y="22324"/>
                </a:lnTo>
                <a:cubicBezTo>
                  <a:pt x="35719" y="9990"/>
                  <a:pt x="59717" y="0"/>
                  <a:pt x="89297" y="0"/>
                </a:cubicBezTo>
                <a:cubicBezTo>
                  <a:pt x="118876" y="0"/>
                  <a:pt x="142875" y="9990"/>
                  <a:pt x="142875" y="22324"/>
                </a:cubicBezTo>
                <a:lnTo>
                  <a:pt x="142875" y="26789"/>
                </a:lnTo>
                <a:cubicBezTo>
                  <a:pt x="142875" y="35328"/>
                  <a:pt x="131350" y="42751"/>
                  <a:pt x="114412" y="46518"/>
                </a:cubicBezTo>
                <a:cubicBezTo>
                  <a:pt x="113742" y="45737"/>
                  <a:pt x="113044" y="44983"/>
                  <a:pt x="112347" y="44286"/>
                </a:cubicBezTo>
                <a:cubicBezTo>
                  <a:pt x="108021" y="40016"/>
                  <a:pt x="102440" y="36779"/>
                  <a:pt x="96608" y="34379"/>
                </a:cubicBezTo>
                <a:cubicBezTo>
                  <a:pt x="84916" y="29496"/>
                  <a:pt x="69679" y="26817"/>
                  <a:pt x="53578" y="26817"/>
                </a:cubicBezTo>
                <a:cubicBezTo>
                  <a:pt x="47467" y="26817"/>
                  <a:pt x="41495" y="27208"/>
                  <a:pt x="35775" y="27961"/>
                </a:cubicBezTo>
                <a:cubicBezTo>
                  <a:pt x="35719" y="27598"/>
                  <a:pt x="35719" y="27208"/>
                  <a:pt x="35719" y="26817"/>
                </a:cubicBezTo>
                <a:close/>
                <a:moveTo>
                  <a:pt x="120551" y="98506"/>
                </a:moveTo>
                <a:lnTo>
                  <a:pt x="120551" y="85613"/>
                </a:lnTo>
                <a:cubicBezTo>
                  <a:pt x="124764" y="84525"/>
                  <a:pt x="128727" y="83241"/>
                  <a:pt x="132327" y="81735"/>
                </a:cubicBezTo>
                <a:cubicBezTo>
                  <a:pt x="136010" y="80200"/>
                  <a:pt x="139610" y="78330"/>
                  <a:pt x="142875" y="76070"/>
                </a:cubicBezTo>
                <a:lnTo>
                  <a:pt x="142875" y="80367"/>
                </a:lnTo>
                <a:cubicBezTo>
                  <a:pt x="142875" y="87846"/>
                  <a:pt x="134085" y="94459"/>
                  <a:pt x="120551" y="98506"/>
                </a:cubicBezTo>
                <a:close/>
                <a:moveTo>
                  <a:pt x="120551" y="71717"/>
                </a:moveTo>
                <a:lnTo>
                  <a:pt x="120551" y="62508"/>
                </a:lnTo>
                <a:cubicBezTo>
                  <a:pt x="120551" y="61252"/>
                  <a:pt x="120439" y="60052"/>
                  <a:pt x="120272" y="58880"/>
                </a:cubicBezTo>
                <a:cubicBezTo>
                  <a:pt x="124597" y="57792"/>
                  <a:pt x="128643" y="56480"/>
                  <a:pt x="132327" y="54918"/>
                </a:cubicBezTo>
                <a:cubicBezTo>
                  <a:pt x="136010" y="53355"/>
                  <a:pt x="139610" y="51513"/>
                  <a:pt x="142875" y="49253"/>
                </a:cubicBezTo>
                <a:lnTo>
                  <a:pt x="142875" y="53550"/>
                </a:lnTo>
                <a:cubicBezTo>
                  <a:pt x="142875" y="61029"/>
                  <a:pt x="134085" y="67642"/>
                  <a:pt x="120551" y="71689"/>
                </a:cubicBezTo>
                <a:close/>
                <a:moveTo>
                  <a:pt x="0" y="66973"/>
                </a:moveTo>
                <a:lnTo>
                  <a:pt x="0" y="62508"/>
                </a:lnTo>
                <a:cubicBezTo>
                  <a:pt x="0" y="50174"/>
                  <a:pt x="23999" y="40184"/>
                  <a:pt x="53578" y="40184"/>
                </a:cubicBezTo>
                <a:cubicBezTo>
                  <a:pt x="83158" y="40184"/>
                  <a:pt x="107156" y="50174"/>
                  <a:pt x="107156" y="62508"/>
                </a:cubicBezTo>
                <a:lnTo>
                  <a:pt x="107156" y="66973"/>
                </a:lnTo>
                <a:cubicBezTo>
                  <a:pt x="107156" y="79307"/>
                  <a:pt x="83158" y="89297"/>
                  <a:pt x="53578" y="89297"/>
                </a:cubicBezTo>
                <a:cubicBezTo>
                  <a:pt x="23999" y="89297"/>
                  <a:pt x="0" y="79307"/>
                  <a:pt x="0" y="66973"/>
                </a:cubicBezTo>
                <a:close/>
                <a:moveTo>
                  <a:pt x="107156" y="93762"/>
                </a:moveTo>
                <a:cubicBezTo>
                  <a:pt x="107156" y="106096"/>
                  <a:pt x="83158" y="116086"/>
                  <a:pt x="53578" y="116086"/>
                </a:cubicBezTo>
                <a:cubicBezTo>
                  <a:pt x="23999" y="116086"/>
                  <a:pt x="0" y="106096"/>
                  <a:pt x="0" y="93762"/>
                </a:cubicBezTo>
                <a:lnTo>
                  <a:pt x="0" y="89464"/>
                </a:lnTo>
                <a:cubicBezTo>
                  <a:pt x="3237" y="91725"/>
                  <a:pt x="6837" y="93566"/>
                  <a:pt x="10548" y="95129"/>
                </a:cubicBezTo>
                <a:cubicBezTo>
                  <a:pt x="22241" y="100013"/>
                  <a:pt x="37477" y="102691"/>
                  <a:pt x="53578" y="102691"/>
                </a:cubicBezTo>
                <a:cubicBezTo>
                  <a:pt x="69679" y="102691"/>
                  <a:pt x="84916" y="99985"/>
                  <a:pt x="96608" y="95129"/>
                </a:cubicBezTo>
                <a:cubicBezTo>
                  <a:pt x="100292" y="93594"/>
                  <a:pt x="103891" y="91725"/>
                  <a:pt x="107156" y="89464"/>
                </a:cubicBezTo>
                <a:lnTo>
                  <a:pt x="107156" y="93762"/>
                </a:lnTo>
                <a:close/>
                <a:moveTo>
                  <a:pt x="107156" y="116253"/>
                </a:moveTo>
                <a:lnTo>
                  <a:pt x="107156" y="120551"/>
                </a:lnTo>
                <a:cubicBezTo>
                  <a:pt x="107156" y="132885"/>
                  <a:pt x="83158" y="142875"/>
                  <a:pt x="53578" y="142875"/>
                </a:cubicBezTo>
                <a:cubicBezTo>
                  <a:pt x="23999" y="142875"/>
                  <a:pt x="0" y="132885"/>
                  <a:pt x="0" y="120551"/>
                </a:cubicBezTo>
                <a:lnTo>
                  <a:pt x="0" y="116253"/>
                </a:lnTo>
                <a:cubicBezTo>
                  <a:pt x="3237" y="118514"/>
                  <a:pt x="6837" y="120355"/>
                  <a:pt x="10548" y="121918"/>
                </a:cubicBezTo>
                <a:cubicBezTo>
                  <a:pt x="22241" y="126802"/>
                  <a:pt x="37477" y="129480"/>
                  <a:pt x="53578" y="129480"/>
                </a:cubicBezTo>
                <a:cubicBezTo>
                  <a:pt x="69679" y="129480"/>
                  <a:pt x="84916" y="126774"/>
                  <a:pt x="96608" y="121918"/>
                </a:cubicBezTo>
                <a:cubicBezTo>
                  <a:pt x="100292" y="120383"/>
                  <a:pt x="103891" y="118514"/>
                  <a:pt x="107156" y="116253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8" name="Text 55"/>
          <p:cNvSpPr/>
          <p:nvPr/>
        </p:nvSpPr>
        <p:spPr>
          <a:xfrm>
            <a:off x="6591300" y="628650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Silver Coins: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200K+ searches for silver coins during Dhanteras reflect traditional investment practices.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333133" y="676275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0" y="35719"/>
                </a:moveTo>
                <a:cubicBezTo>
                  <a:pt x="0" y="25868"/>
                  <a:pt x="8009" y="17859"/>
                  <a:pt x="17859" y="17859"/>
                </a:cubicBezTo>
                <a:lnTo>
                  <a:pt x="142875" y="17859"/>
                </a:lnTo>
                <a:cubicBezTo>
                  <a:pt x="152726" y="17859"/>
                  <a:pt x="160734" y="25868"/>
                  <a:pt x="160734" y="35719"/>
                </a:cubicBezTo>
                <a:lnTo>
                  <a:pt x="160734" y="53578"/>
                </a:lnTo>
                <a:cubicBezTo>
                  <a:pt x="160734" y="56034"/>
                  <a:pt x="158669" y="57959"/>
                  <a:pt x="156353" y="58769"/>
                </a:cubicBezTo>
                <a:cubicBezTo>
                  <a:pt x="151107" y="60582"/>
                  <a:pt x="147340" y="65577"/>
                  <a:pt x="147340" y="71438"/>
                </a:cubicBezTo>
                <a:cubicBezTo>
                  <a:pt x="147340" y="77298"/>
                  <a:pt x="151107" y="82293"/>
                  <a:pt x="156353" y="84106"/>
                </a:cubicBezTo>
                <a:cubicBezTo>
                  <a:pt x="158669" y="84916"/>
                  <a:pt x="160734" y="86841"/>
                  <a:pt x="160734" y="89297"/>
                </a:cubicBezTo>
                <a:lnTo>
                  <a:pt x="160734" y="107156"/>
                </a:lnTo>
                <a:cubicBezTo>
                  <a:pt x="160734" y="117007"/>
                  <a:pt x="152726" y="125016"/>
                  <a:pt x="142875" y="125016"/>
                </a:cubicBezTo>
                <a:lnTo>
                  <a:pt x="17859" y="125016"/>
                </a:lnTo>
                <a:cubicBezTo>
                  <a:pt x="8009" y="125016"/>
                  <a:pt x="0" y="117007"/>
                  <a:pt x="0" y="107156"/>
                </a:cubicBezTo>
                <a:lnTo>
                  <a:pt x="0" y="89297"/>
                </a:lnTo>
                <a:cubicBezTo>
                  <a:pt x="0" y="86841"/>
                  <a:pt x="2065" y="84916"/>
                  <a:pt x="4381" y="84106"/>
                </a:cubicBezTo>
                <a:cubicBezTo>
                  <a:pt x="9627" y="82293"/>
                  <a:pt x="13395" y="77298"/>
                  <a:pt x="13395" y="71438"/>
                </a:cubicBezTo>
                <a:cubicBezTo>
                  <a:pt x="13395" y="65577"/>
                  <a:pt x="9627" y="60582"/>
                  <a:pt x="4381" y="58769"/>
                </a:cubicBezTo>
                <a:cubicBezTo>
                  <a:pt x="2065" y="57959"/>
                  <a:pt x="0" y="56034"/>
                  <a:pt x="0" y="53578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0" name="Text 57"/>
          <p:cNvSpPr/>
          <p:nvPr/>
        </p:nvSpPr>
        <p:spPr>
          <a:xfrm>
            <a:off x="6590407" y="673100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Lottery Results: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200K+ searches for Dear Lottery, Kolkata Fatafat show alternative investment interest.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eople.com/9f62400e0ba95c76de00eb9258346df8dbcb421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8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552575"/>
            <a:ext cx="47339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000375"/>
            <a:ext cx="44100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Season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6577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5000625"/>
            <a:ext cx="423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Diwali, Dhanteras &amp; Cultural Celebrations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SEASON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Festivals Generate Massive Search Interest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5699125" cy="1746250"/>
          </a:xfrm>
          <a:custGeom>
            <a:avLst/>
            <a:gdLst/>
            <a:ahLst/>
            <a:cxnLst/>
            <a:rect l="l" t="t" r="r" b="b"/>
            <a:pathLst>
              <a:path w="5699125" h="1746250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1682756"/>
                </a:lnTo>
                <a:cubicBezTo>
                  <a:pt x="5699125" y="1717823"/>
                  <a:pt x="5670698" y="1746250"/>
                  <a:pt x="5635631" y="1746250"/>
                </a:cubicBezTo>
                <a:lnTo>
                  <a:pt x="63494" y="1746250"/>
                </a:lnTo>
                <a:cubicBezTo>
                  <a:pt x="28427" y="1746250"/>
                  <a:pt x="0" y="1717823"/>
                  <a:pt x="0" y="16827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" name="Text 3"/>
          <p:cNvSpPr/>
          <p:nvPr/>
        </p:nvSpPr>
        <p:spPr>
          <a:xfrm>
            <a:off x="476250" y="1174750"/>
            <a:ext cx="2182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Category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086" y="1182587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80780" y="2186"/>
                </a:moveTo>
                <a:cubicBezTo>
                  <a:pt x="183663" y="-698"/>
                  <a:pt x="188407" y="-698"/>
                  <a:pt x="191291" y="2186"/>
                </a:cubicBezTo>
                <a:lnTo>
                  <a:pt x="198732" y="9627"/>
                </a:lnTo>
                <a:cubicBezTo>
                  <a:pt x="201616" y="12511"/>
                  <a:pt x="201616" y="17255"/>
                  <a:pt x="198732" y="20138"/>
                </a:cubicBezTo>
                <a:lnTo>
                  <a:pt x="191291" y="27580"/>
                </a:lnTo>
                <a:cubicBezTo>
                  <a:pt x="188407" y="30463"/>
                  <a:pt x="183663" y="30463"/>
                  <a:pt x="180780" y="27580"/>
                </a:cubicBezTo>
                <a:lnTo>
                  <a:pt x="173338" y="20138"/>
                </a:lnTo>
                <a:cubicBezTo>
                  <a:pt x="170455" y="17255"/>
                  <a:pt x="170455" y="12511"/>
                  <a:pt x="173338" y="9627"/>
                </a:cubicBezTo>
                <a:lnTo>
                  <a:pt x="180780" y="2186"/>
                </a:lnTo>
                <a:close/>
                <a:moveTo>
                  <a:pt x="81855" y="74414"/>
                </a:moveTo>
                <a:cubicBezTo>
                  <a:pt x="76833" y="74414"/>
                  <a:pt x="72182" y="76088"/>
                  <a:pt x="68461" y="78879"/>
                </a:cubicBezTo>
                <a:cubicBezTo>
                  <a:pt x="61903" y="83809"/>
                  <a:pt x="52555" y="82507"/>
                  <a:pt x="47625" y="75902"/>
                </a:cubicBezTo>
                <a:cubicBezTo>
                  <a:pt x="42695" y="69298"/>
                  <a:pt x="43997" y="59996"/>
                  <a:pt x="50602" y="55066"/>
                </a:cubicBezTo>
                <a:cubicBezTo>
                  <a:pt x="59299" y="48509"/>
                  <a:pt x="70135" y="44648"/>
                  <a:pt x="81855" y="44648"/>
                </a:cubicBezTo>
                <a:cubicBezTo>
                  <a:pt x="110644" y="44648"/>
                  <a:pt x="133945" y="67949"/>
                  <a:pt x="133945" y="96738"/>
                </a:cubicBezTo>
                <a:cubicBezTo>
                  <a:pt x="133945" y="104738"/>
                  <a:pt x="132131" y="112319"/>
                  <a:pt x="128922" y="119062"/>
                </a:cubicBezTo>
                <a:lnTo>
                  <a:pt x="152037" y="119062"/>
                </a:lnTo>
                <a:cubicBezTo>
                  <a:pt x="157944" y="119062"/>
                  <a:pt x="163618" y="116737"/>
                  <a:pt x="167804" y="112505"/>
                </a:cubicBezTo>
                <a:lnTo>
                  <a:pt x="177431" y="102877"/>
                </a:lnTo>
                <a:cubicBezTo>
                  <a:pt x="186128" y="94180"/>
                  <a:pt x="197941" y="89250"/>
                  <a:pt x="210266" y="89250"/>
                </a:cubicBezTo>
                <a:cubicBezTo>
                  <a:pt x="235939" y="89250"/>
                  <a:pt x="256729" y="110040"/>
                  <a:pt x="256729" y="135713"/>
                </a:cubicBezTo>
                <a:lnTo>
                  <a:pt x="256729" y="180408"/>
                </a:lnTo>
                <a:cubicBezTo>
                  <a:pt x="256729" y="206080"/>
                  <a:pt x="235893" y="226916"/>
                  <a:pt x="210220" y="226916"/>
                </a:cubicBezTo>
                <a:cubicBezTo>
                  <a:pt x="184547" y="226916"/>
                  <a:pt x="163711" y="206127"/>
                  <a:pt x="163711" y="180454"/>
                </a:cubicBezTo>
                <a:lnTo>
                  <a:pt x="163711" y="178594"/>
                </a:lnTo>
                <a:cubicBezTo>
                  <a:pt x="163711" y="170362"/>
                  <a:pt x="170362" y="163711"/>
                  <a:pt x="178594" y="163711"/>
                </a:cubicBezTo>
                <a:cubicBezTo>
                  <a:pt x="186826" y="163711"/>
                  <a:pt x="193477" y="170362"/>
                  <a:pt x="193477" y="178594"/>
                </a:cubicBezTo>
                <a:lnTo>
                  <a:pt x="193477" y="180454"/>
                </a:lnTo>
                <a:cubicBezTo>
                  <a:pt x="193477" y="189709"/>
                  <a:pt x="200964" y="197197"/>
                  <a:pt x="210220" y="197197"/>
                </a:cubicBezTo>
                <a:cubicBezTo>
                  <a:pt x="219475" y="197197"/>
                  <a:pt x="226963" y="189709"/>
                  <a:pt x="226963" y="180454"/>
                </a:cubicBezTo>
                <a:lnTo>
                  <a:pt x="226963" y="135759"/>
                </a:lnTo>
                <a:cubicBezTo>
                  <a:pt x="226963" y="126550"/>
                  <a:pt x="219475" y="119062"/>
                  <a:pt x="210266" y="119062"/>
                </a:cubicBezTo>
                <a:cubicBezTo>
                  <a:pt x="205848" y="119062"/>
                  <a:pt x="201616" y="120830"/>
                  <a:pt x="198453" y="123946"/>
                </a:cubicBezTo>
                <a:lnTo>
                  <a:pt x="188826" y="133573"/>
                </a:lnTo>
                <a:cubicBezTo>
                  <a:pt x="179059" y="143340"/>
                  <a:pt x="165850" y="148828"/>
                  <a:pt x="152037" y="148828"/>
                </a:cubicBezTo>
                <a:lnTo>
                  <a:pt x="139573" y="148828"/>
                </a:lnTo>
                <a:cubicBezTo>
                  <a:pt x="145433" y="157944"/>
                  <a:pt x="148828" y="168734"/>
                  <a:pt x="148828" y="180454"/>
                </a:cubicBezTo>
                <a:cubicBezTo>
                  <a:pt x="148828" y="215429"/>
                  <a:pt x="118597" y="241846"/>
                  <a:pt x="83716" y="241846"/>
                </a:cubicBezTo>
                <a:cubicBezTo>
                  <a:pt x="48834" y="241846"/>
                  <a:pt x="18604" y="215429"/>
                  <a:pt x="18604" y="180454"/>
                </a:cubicBezTo>
                <a:cubicBezTo>
                  <a:pt x="18604" y="172222"/>
                  <a:pt x="25254" y="165571"/>
                  <a:pt x="33486" y="165571"/>
                </a:cubicBezTo>
                <a:cubicBezTo>
                  <a:pt x="41718" y="165571"/>
                  <a:pt x="48369" y="172222"/>
                  <a:pt x="48369" y="180454"/>
                </a:cubicBezTo>
                <a:cubicBezTo>
                  <a:pt x="48369" y="196872"/>
                  <a:pt x="63112" y="212080"/>
                  <a:pt x="83716" y="212080"/>
                </a:cubicBezTo>
                <a:cubicBezTo>
                  <a:pt x="104319" y="212080"/>
                  <a:pt x="119062" y="196872"/>
                  <a:pt x="119062" y="180454"/>
                </a:cubicBezTo>
                <a:cubicBezTo>
                  <a:pt x="119062" y="164036"/>
                  <a:pt x="104319" y="148828"/>
                  <a:pt x="83716" y="148828"/>
                </a:cubicBezTo>
                <a:lnTo>
                  <a:pt x="74414" y="148828"/>
                </a:lnTo>
                <a:cubicBezTo>
                  <a:pt x="66182" y="148828"/>
                  <a:pt x="59531" y="142177"/>
                  <a:pt x="59531" y="133945"/>
                </a:cubicBezTo>
                <a:cubicBezTo>
                  <a:pt x="59531" y="125713"/>
                  <a:pt x="66182" y="119062"/>
                  <a:pt x="74414" y="119062"/>
                </a:cubicBezTo>
                <a:lnTo>
                  <a:pt x="81855" y="119062"/>
                </a:lnTo>
                <a:cubicBezTo>
                  <a:pt x="94180" y="119062"/>
                  <a:pt x="104180" y="109063"/>
                  <a:pt x="104180" y="96738"/>
                </a:cubicBezTo>
                <a:cubicBezTo>
                  <a:pt x="104180" y="84413"/>
                  <a:pt x="94180" y="74414"/>
                  <a:pt x="81855" y="74414"/>
                </a:cubicBezTo>
                <a:close/>
                <a:moveTo>
                  <a:pt x="156781" y="27952"/>
                </a:moveTo>
                <a:cubicBezTo>
                  <a:pt x="151665" y="21534"/>
                  <a:pt x="142317" y="20417"/>
                  <a:pt x="135852" y="25533"/>
                </a:cubicBezTo>
                <a:cubicBezTo>
                  <a:pt x="129387" y="30649"/>
                  <a:pt x="128318" y="39998"/>
                  <a:pt x="133434" y="46462"/>
                </a:cubicBezTo>
                <a:cubicBezTo>
                  <a:pt x="145386" y="61485"/>
                  <a:pt x="164827" y="70693"/>
                  <a:pt x="186035" y="70693"/>
                </a:cubicBezTo>
                <a:cubicBezTo>
                  <a:pt x="207243" y="70693"/>
                  <a:pt x="226684" y="61485"/>
                  <a:pt x="238637" y="46462"/>
                </a:cubicBezTo>
                <a:cubicBezTo>
                  <a:pt x="243753" y="40044"/>
                  <a:pt x="242683" y="30649"/>
                  <a:pt x="236218" y="25533"/>
                </a:cubicBezTo>
                <a:cubicBezTo>
                  <a:pt x="229753" y="20417"/>
                  <a:pt x="220405" y="21487"/>
                  <a:pt x="215289" y="27952"/>
                </a:cubicBezTo>
                <a:cubicBezTo>
                  <a:pt x="209429" y="35347"/>
                  <a:pt x="198825" y="40928"/>
                  <a:pt x="186035" y="40928"/>
                </a:cubicBezTo>
                <a:cubicBezTo>
                  <a:pt x="173245" y="40928"/>
                  <a:pt x="162641" y="35347"/>
                  <a:pt x="156781" y="279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04813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469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40955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2.6M+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4611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77196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7.2%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0853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2190649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 week drives concentrated search activity with Dhanteras timing, wishes, and celebration-related queries dominating the category.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" y="2889149"/>
            <a:ext cx="5699125" cy="4254500"/>
          </a:xfrm>
          <a:custGeom>
            <a:avLst/>
            <a:gdLst/>
            <a:ahLst/>
            <a:cxnLst/>
            <a:rect l="l" t="t" r="r" b="b"/>
            <a:pathLst>
              <a:path w="5699125" h="4254500">
                <a:moveTo>
                  <a:pt x="63520" y="0"/>
                </a:moveTo>
                <a:lnTo>
                  <a:pt x="5635605" y="0"/>
                </a:lnTo>
                <a:cubicBezTo>
                  <a:pt x="5670686" y="0"/>
                  <a:pt x="5699125" y="28439"/>
                  <a:pt x="5699125" y="63520"/>
                </a:cubicBezTo>
                <a:lnTo>
                  <a:pt x="5699125" y="4190980"/>
                </a:lnTo>
                <a:cubicBezTo>
                  <a:pt x="5699125" y="4226061"/>
                  <a:pt x="5670686" y="4254500"/>
                  <a:pt x="5635605" y="4254500"/>
                </a:cubicBezTo>
                <a:lnTo>
                  <a:pt x="63520" y="4254500"/>
                </a:lnTo>
                <a:cubicBezTo>
                  <a:pt x="28439" y="4254500"/>
                  <a:pt x="0" y="4226061"/>
                  <a:pt x="0" y="4190980"/>
                </a:cubicBezTo>
                <a:lnTo>
                  <a:pt x="0" y="63520"/>
                </a:lnTo>
                <a:cubicBezTo>
                  <a:pt x="0" y="28462"/>
                  <a:pt x="28462" y="0"/>
                  <a:pt x="6352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250" y="3047899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Festival Queries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125" y="339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125" y="339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" y="349239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Dhanteras Timing 2024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" y="3682899"/>
            <a:ext cx="137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Shubh muhurat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0895" y="3540024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125" y="4032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2125" y="4032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" y="4127399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" y="4317899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 searches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88049" y="4175024"/>
            <a:ext cx="666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500K+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2125" y="466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2125" y="466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762399"/>
            <a:ext cx="928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 Wishes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250" y="4952899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Greetings sharing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83002" y="4825899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2125" y="5302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2125" y="5302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603250" y="5397399"/>
            <a:ext cx="690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Rangoli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250" y="5587899"/>
            <a:ext cx="682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ideas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83002" y="5460899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2125" y="593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92125" y="593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8" name="Text 36"/>
          <p:cNvSpPr/>
          <p:nvPr/>
        </p:nvSpPr>
        <p:spPr>
          <a:xfrm>
            <a:off x="603250" y="6032399"/>
            <a:ext cx="1246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Happy Diwali Wishes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250" y="6222899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searches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283002" y="6095899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016000"/>
            <a:ext cx="5699125" cy="2889250"/>
          </a:xfrm>
          <a:custGeom>
            <a:avLst/>
            <a:gdLst/>
            <a:ahLst/>
            <a:cxnLst/>
            <a:rect l="l" t="t" r="r" b="b"/>
            <a:pathLst>
              <a:path w="5699125" h="2889250">
                <a:moveTo>
                  <a:pt x="63506" y="0"/>
                </a:moveTo>
                <a:lnTo>
                  <a:pt x="5635619" y="0"/>
                </a:lnTo>
                <a:cubicBezTo>
                  <a:pt x="5670693" y="0"/>
                  <a:pt x="5699125" y="28432"/>
                  <a:pt x="5699125" y="63506"/>
                </a:cubicBezTo>
                <a:lnTo>
                  <a:pt x="5699125" y="2825744"/>
                </a:lnTo>
                <a:cubicBezTo>
                  <a:pt x="5699125" y="2860818"/>
                  <a:pt x="5670693" y="2889250"/>
                  <a:pt x="5635619" y="2889250"/>
                </a:cubicBezTo>
                <a:lnTo>
                  <a:pt x="63506" y="2889250"/>
                </a:lnTo>
                <a:cubicBezTo>
                  <a:pt x="28432" y="2889250"/>
                  <a:pt x="0" y="2860818"/>
                  <a:pt x="0" y="28257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34125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Search Categories</a:t>
            </a:r>
            <a:endParaRPr lang="en-US" sz="1600" dirty="0"/>
          </a:p>
        </p:txBody>
      </p:sp>
      <p:pic>
        <p:nvPicPr>
          <p:cNvPr id="43" name="Image 0" descr="https://kimi-img.moonshot.cn/pub/slides/26-02-28-04:20:56-d6gvpa4coua042qh97a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51864" y="1555649"/>
            <a:ext cx="4365625" cy="2222500"/>
          </a:xfrm>
          <a:prstGeom prst="roundRect">
            <a:avLst>
              <a:gd name="adj" fmla="val 0"/>
            </a:avLst>
          </a:prstGeom>
        </p:spPr>
      </p:pic>
      <p:sp>
        <p:nvSpPr>
          <p:cNvPr id="44" name="Shape 41"/>
          <p:cNvSpPr/>
          <p:nvPr/>
        </p:nvSpPr>
        <p:spPr>
          <a:xfrm>
            <a:off x="6175375" y="4032250"/>
            <a:ext cx="5699125" cy="3111500"/>
          </a:xfrm>
          <a:custGeom>
            <a:avLst/>
            <a:gdLst/>
            <a:ahLst/>
            <a:cxnLst/>
            <a:rect l="l" t="t" r="r" b="b"/>
            <a:pathLst>
              <a:path w="5699125" h="3111500">
                <a:moveTo>
                  <a:pt x="63506" y="0"/>
                </a:moveTo>
                <a:lnTo>
                  <a:pt x="5635619" y="0"/>
                </a:lnTo>
                <a:cubicBezTo>
                  <a:pt x="5670693" y="0"/>
                  <a:pt x="5699125" y="28432"/>
                  <a:pt x="5699125" y="63506"/>
                </a:cubicBezTo>
                <a:lnTo>
                  <a:pt x="5699125" y="3047994"/>
                </a:lnTo>
                <a:cubicBezTo>
                  <a:pt x="5699125" y="3083068"/>
                  <a:pt x="5670693" y="3111500"/>
                  <a:pt x="5635619" y="3111500"/>
                </a:cubicBezTo>
                <a:lnTo>
                  <a:pt x="63506" y="3111500"/>
                </a:lnTo>
                <a:cubicBezTo>
                  <a:pt x="28432" y="3111500"/>
                  <a:pt x="0" y="3083068"/>
                  <a:pt x="0" y="304799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5" name="Text 42"/>
          <p:cNvSpPr/>
          <p:nvPr/>
        </p:nvSpPr>
        <p:spPr>
          <a:xfrm>
            <a:off x="6334125" y="41910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Cultural Significance in Searches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38094" y="4572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7" name="Text 44"/>
          <p:cNvSpPr/>
          <p:nvPr/>
        </p:nvSpPr>
        <p:spPr>
          <a:xfrm>
            <a:off x="6598146" y="4540250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Timings &amp; Muhurat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98146" y="4794250"/>
            <a:ext cx="5183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Dhanteras timing (1M+) and Lakshmi Puja muhurat searches show cultural adherence to traditional practices.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53969" y="5302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79375"/>
                </a:moveTo>
                <a:cubicBezTo>
                  <a:pt x="158750" y="79654"/>
                  <a:pt x="158750" y="79933"/>
                  <a:pt x="158750" y="80212"/>
                </a:cubicBezTo>
                <a:cubicBezTo>
                  <a:pt x="158626" y="91529"/>
                  <a:pt x="148332" y="99219"/>
                  <a:pt x="137015" y="99219"/>
                </a:cubicBezTo>
                <a:lnTo>
                  <a:pt x="106660" y="99219"/>
                </a:lnTo>
                <a:cubicBezTo>
                  <a:pt x="98444" y="99219"/>
                  <a:pt x="91777" y="105885"/>
                  <a:pt x="91777" y="114102"/>
                </a:cubicBezTo>
                <a:cubicBezTo>
                  <a:pt x="91777" y="115156"/>
                  <a:pt x="91901" y="116179"/>
                  <a:pt x="92087" y="117171"/>
                </a:cubicBezTo>
                <a:cubicBezTo>
                  <a:pt x="92739" y="120334"/>
                  <a:pt x="94103" y="123372"/>
                  <a:pt x="95436" y="126442"/>
                </a:cubicBezTo>
                <a:cubicBezTo>
                  <a:pt x="97327" y="130721"/>
                  <a:pt x="99188" y="134969"/>
                  <a:pt x="99188" y="139464"/>
                </a:cubicBezTo>
                <a:cubicBezTo>
                  <a:pt x="99188" y="149324"/>
                  <a:pt x="92490" y="158285"/>
                  <a:pt x="82631" y="158688"/>
                </a:cubicBezTo>
                <a:cubicBezTo>
                  <a:pt x="81545" y="158719"/>
                  <a:pt x="80460" y="158750"/>
                  <a:pt x="79344" y="158750"/>
                </a:cubicBezTo>
                <a:cubicBezTo>
                  <a:pt x="35502" y="158750"/>
                  <a:pt x="-31" y="123217"/>
                  <a:pt x="-31" y="79375"/>
                </a:cubicBezTo>
                <a:cubicBezTo>
                  <a:pt x="-31" y="35533"/>
                  <a:pt x="35533" y="0"/>
                  <a:pt x="79375" y="0"/>
                </a:cubicBezTo>
                <a:cubicBezTo>
                  <a:pt x="123217" y="0"/>
                  <a:pt x="158750" y="35533"/>
                  <a:pt x="158750" y="79375"/>
                </a:cubicBezTo>
                <a:close/>
                <a:moveTo>
                  <a:pt x="39688" y="89297"/>
                </a:moveTo>
                <a:cubicBezTo>
                  <a:pt x="39688" y="83821"/>
                  <a:pt x="35242" y="79375"/>
                  <a:pt x="29766" y="79375"/>
                </a:cubicBezTo>
                <a:cubicBezTo>
                  <a:pt x="24290" y="79375"/>
                  <a:pt x="19844" y="83821"/>
                  <a:pt x="19844" y="89297"/>
                </a:cubicBezTo>
                <a:cubicBezTo>
                  <a:pt x="19844" y="94773"/>
                  <a:pt x="24290" y="99219"/>
                  <a:pt x="29766" y="99219"/>
                </a:cubicBezTo>
                <a:cubicBezTo>
                  <a:pt x="35242" y="99219"/>
                  <a:pt x="39688" y="94773"/>
                  <a:pt x="39688" y="89297"/>
                </a:cubicBezTo>
                <a:close/>
                <a:moveTo>
                  <a:pt x="39688" y="59531"/>
                </a:moveTo>
                <a:cubicBezTo>
                  <a:pt x="45164" y="59531"/>
                  <a:pt x="49609" y="55085"/>
                  <a:pt x="49609" y="49609"/>
                </a:cubicBezTo>
                <a:cubicBezTo>
                  <a:pt x="49609" y="44133"/>
                  <a:pt x="45164" y="39688"/>
                  <a:pt x="39688" y="39688"/>
                </a:cubicBezTo>
                <a:cubicBezTo>
                  <a:pt x="34211" y="39688"/>
                  <a:pt x="29766" y="44133"/>
                  <a:pt x="29766" y="49609"/>
                </a:cubicBezTo>
                <a:cubicBezTo>
                  <a:pt x="29766" y="55085"/>
                  <a:pt x="34211" y="59531"/>
                  <a:pt x="39688" y="59531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119062" y="59531"/>
                </a:moveTo>
                <a:cubicBezTo>
                  <a:pt x="124539" y="59531"/>
                  <a:pt x="128984" y="55085"/>
                  <a:pt x="128984" y="49609"/>
                </a:cubicBezTo>
                <a:cubicBezTo>
                  <a:pt x="128984" y="44133"/>
                  <a:pt x="124539" y="39688"/>
                  <a:pt x="119062" y="39688"/>
                </a:cubicBezTo>
                <a:cubicBezTo>
                  <a:pt x="113586" y="39688"/>
                  <a:pt x="109141" y="44133"/>
                  <a:pt x="109141" y="49609"/>
                </a:cubicBezTo>
                <a:cubicBezTo>
                  <a:pt x="109141" y="55085"/>
                  <a:pt x="113586" y="59531"/>
                  <a:pt x="119062" y="59531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0" name="Text 47"/>
          <p:cNvSpPr/>
          <p:nvPr/>
        </p:nvSpPr>
        <p:spPr>
          <a:xfrm>
            <a:off x="6627813" y="5270500"/>
            <a:ext cx="493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Decorations &amp; Art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627813" y="5524500"/>
            <a:ext cx="492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Rangoli designs (200K+) and decoration ideas reflect the artistic aspect of celebrations.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63891" y="58420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19062" y="158750"/>
                </a:moveTo>
                <a:lnTo>
                  <a:pt x="29766" y="158750"/>
                </a:lnTo>
                <a:cubicBezTo>
                  <a:pt x="13333" y="158750"/>
                  <a:pt x="0" y="145417"/>
                  <a:pt x="0" y="128984"/>
                </a:cubicBezTo>
                <a:lnTo>
                  <a:pt x="0" y="29766"/>
                </a:lnTo>
                <a:cubicBezTo>
                  <a:pt x="0" y="13333"/>
                  <a:pt x="13333" y="0"/>
                  <a:pt x="29766" y="0"/>
                </a:cubicBezTo>
                <a:lnTo>
                  <a:pt x="124023" y="0"/>
                </a:lnTo>
                <a:cubicBezTo>
                  <a:pt x="132240" y="0"/>
                  <a:pt x="138906" y="6666"/>
                  <a:pt x="138906" y="14883"/>
                </a:cubicBezTo>
                <a:lnTo>
                  <a:pt x="138906" y="104180"/>
                </a:lnTo>
                <a:cubicBezTo>
                  <a:pt x="138906" y="110660"/>
                  <a:pt x="134751" y="116179"/>
                  <a:pt x="128984" y="118225"/>
                </a:cubicBezTo>
                <a:lnTo>
                  <a:pt x="128984" y="138906"/>
                </a:lnTo>
                <a:cubicBezTo>
                  <a:pt x="134472" y="138906"/>
                  <a:pt x="138906" y="143340"/>
                  <a:pt x="138906" y="148828"/>
                </a:cubicBezTo>
                <a:cubicBezTo>
                  <a:pt x="138906" y="154316"/>
                  <a:pt x="134472" y="158750"/>
                  <a:pt x="128984" y="158750"/>
                </a:cubicBezTo>
                <a:lnTo>
                  <a:pt x="119062" y="158750"/>
                </a:lnTo>
                <a:close/>
                <a:moveTo>
                  <a:pt x="29766" y="119062"/>
                </a:moveTo>
                <a:cubicBezTo>
                  <a:pt x="24278" y="119062"/>
                  <a:pt x="19844" y="123496"/>
                  <a:pt x="19844" y="128984"/>
                </a:cubicBezTo>
                <a:cubicBezTo>
                  <a:pt x="19844" y="134472"/>
                  <a:pt x="24278" y="138906"/>
                  <a:pt x="29766" y="138906"/>
                </a:cubicBezTo>
                <a:lnTo>
                  <a:pt x="109141" y="138906"/>
                </a:lnTo>
                <a:lnTo>
                  <a:pt x="109141" y="119062"/>
                </a:lnTo>
                <a:lnTo>
                  <a:pt x="29766" y="119062"/>
                </a:lnTo>
                <a:close/>
                <a:moveTo>
                  <a:pt x="39688" y="47129"/>
                </a:moveTo>
                <a:cubicBezTo>
                  <a:pt x="39688" y="51253"/>
                  <a:pt x="43005" y="54570"/>
                  <a:pt x="47129" y="54570"/>
                </a:cubicBezTo>
                <a:lnTo>
                  <a:pt x="101699" y="54570"/>
                </a:lnTo>
                <a:cubicBezTo>
                  <a:pt x="105823" y="54570"/>
                  <a:pt x="109141" y="51253"/>
                  <a:pt x="109141" y="47129"/>
                </a:cubicBezTo>
                <a:cubicBezTo>
                  <a:pt x="109141" y="43005"/>
                  <a:pt x="105823" y="39688"/>
                  <a:pt x="101699" y="39688"/>
                </a:cubicBezTo>
                <a:lnTo>
                  <a:pt x="47129" y="39688"/>
                </a:lnTo>
                <a:cubicBezTo>
                  <a:pt x="43005" y="39688"/>
                  <a:pt x="39688" y="43005"/>
                  <a:pt x="39688" y="47129"/>
                </a:cubicBezTo>
                <a:close/>
                <a:moveTo>
                  <a:pt x="47129" y="69453"/>
                </a:moveTo>
                <a:cubicBezTo>
                  <a:pt x="43005" y="69453"/>
                  <a:pt x="39688" y="72771"/>
                  <a:pt x="39688" y="76895"/>
                </a:cubicBezTo>
                <a:cubicBezTo>
                  <a:pt x="39688" y="81018"/>
                  <a:pt x="43005" y="84336"/>
                  <a:pt x="47129" y="84336"/>
                </a:cubicBezTo>
                <a:lnTo>
                  <a:pt x="101699" y="84336"/>
                </a:lnTo>
                <a:cubicBezTo>
                  <a:pt x="105823" y="84336"/>
                  <a:pt x="109141" y="81018"/>
                  <a:pt x="109141" y="76895"/>
                </a:cubicBezTo>
                <a:cubicBezTo>
                  <a:pt x="109141" y="72771"/>
                  <a:pt x="105823" y="69453"/>
                  <a:pt x="101699" y="69453"/>
                </a:cubicBezTo>
                <a:lnTo>
                  <a:pt x="47129" y="69453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3" name="Text 50"/>
          <p:cNvSpPr/>
          <p:nvPr/>
        </p:nvSpPr>
        <p:spPr>
          <a:xfrm>
            <a:off x="6627813" y="5810250"/>
            <a:ext cx="493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Religious Practices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627813" y="6064250"/>
            <a:ext cx="492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Aarti, katha, and vrat-related searches show continued interest in religious observances.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50000" y="6381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684" y="21332"/>
                </a:moveTo>
                <a:cubicBezTo>
                  <a:pt x="102040" y="17332"/>
                  <a:pt x="106319" y="14883"/>
                  <a:pt x="110939" y="14883"/>
                </a:cubicBezTo>
                <a:lnTo>
                  <a:pt x="111621" y="14883"/>
                </a:lnTo>
                <a:cubicBezTo>
                  <a:pt x="118473" y="14883"/>
                  <a:pt x="124023" y="20433"/>
                  <a:pt x="124023" y="27285"/>
                </a:cubicBezTo>
                <a:cubicBezTo>
                  <a:pt x="124023" y="34137"/>
                  <a:pt x="118473" y="39688"/>
                  <a:pt x="111621" y="39688"/>
                </a:cubicBezTo>
                <a:lnTo>
                  <a:pt x="88894" y="39688"/>
                </a:lnTo>
                <a:lnTo>
                  <a:pt x="99684" y="21332"/>
                </a:lnTo>
                <a:close/>
                <a:moveTo>
                  <a:pt x="59066" y="21332"/>
                </a:moveTo>
                <a:lnTo>
                  <a:pt x="69856" y="39688"/>
                </a:lnTo>
                <a:lnTo>
                  <a:pt x="47129" y="39688"/>
                </a:lnTo>
                <a:cubicBezTo>
                  <a:pt x="40277" y="39688"/>
                  <a:pt x="34727" y="34137"/>
                  <a:pt x="34727" y="27285"/>
                </a:cubicBezTo>
                <a:cubicBezTo>
                  <a:pt x="34727" y="20433"/>
                  <a:pt x="40277" y="14883"/>
                  <a:pt x="47129" y="14883"/>
                </a:cubicBezTo>
                <a:lnTo>
                  <a:pt x="47811" y="14883"/>
                </a:lnTo>
                <a:cubicBezTo>
                  <a:pt x="52431" y="14883"/>
                  <a:pt x="56741" y="17332"/>
                  <a:pt x="59066" y="21332"/>
                </a:cubicBezTo>
                <a:close/>
                <a:moveTo>
                  <a:pt x="86847" y="13798"/>
                </a:moveTo>
                <a:lnTo>
                  <a:pt x="79375" y="26510"/>
                </a:lnTo>
                <a:lnTo>
                  <a:pt x="71903" y="13798"/>
                </a:lnTo>
                <a:cubicBezTo>
                  <a:pt x="66880" y="5240"/>
                  <a:pt x="57702" y="0"/>
                  <a:pt x="47811" y="0"/>
                </a:cubicBezTo>
                <a:lnTo>
                  <a:pt x="47129" y="0"/>
                </a:lnTo>
                <a:cubicBezTo>
                  <a:pt x="32060" y="0"/>
                  <a:pt x="19844" y="12216"/>
                  <a:pt x="19844" y="27285"/>
                </a:cubicBezTo>
                <a:cubicBezTo>
                  <a:pt x="19844" y="31750"/>
                  <a:pt x="20929" y="35967"/>
                  <a:pt x="22820" y="39688"/>
                </a:cubicBezTo>
                <a:lnTo>
                  <a:pt x="9922" y="39688"/>
                </a:lnTo>
                <a:cubicBezTo>
                  <a:pt x="4434" y="39688"/>
                  <a:pt x="0" y="44121"/>
                  <a:pt x="0" y="49609"/>
                </a:cubicBezTo>
                <a:lnTo>
                  <a:pt x="0" y="59531"/>
                </a:lnTo>
                <a:cubicBezTo>
                  <a:pt x="0" y="65019"/>
                  <a:pt x="4434" y="69453"/>
                  <a:pt x="9922" y="69453"/>
                </a:cubicBezTo>
                <a:lnTo>
                  <a:pt x="148828" y="69453"/>
                </a:lnTo>
                <a:cubicBezTo>
                  <a:pt x="154316" y="69453"/>
                  <a:pt x="158750" y="65019"/>
                  <a:pt x="158750" y="59531"/>
                </a:cubicBezTo>
                <a:lnTo>
                  <a:pt x="158750" y="49609"/>
                </a:lnTo>
                <a:cubicBezTo>
                  <a:pt x="158750" y="44121"/>
                  <a:pt x="154316" y="39688"/>
                  <a:pt x="148828" y="39688"/>
                </a:cubicBezTo>
                <a:lnTo>
                  <a:pt x="135930" y="39688"/>
                </a:lnTo>
                <a:cubicBezTo>
                  <a:pt x="137821" y="35967"/>
                  <a:pt x="138906" y="31750"/>
                  <a:pt x="138906" y="27285"/>
                </a:cubicBezTo>
                <a:cubicBezTo>
                  <a:pt x="138906" y="12216"/>
                  <a:pt x="126690" y="0"/>
                  <a:pt x="111621" y="0"/>
                </a:cubicBezTo>
                <a:lnTo>
                  <a:pt x="110939" y="0"/>
                </a:lnTo>
                <a:cubicBezTo>
                  <a:pt x="101048" y="0"/>
                  <a:pt x="91870" y="5240"/>
                  <a:pt x="86847" y="13767"/>
                </a:cubicBezTo>
                <a:close/>
                <a:moveTo>
                  <a:pt x="148828" y="84336"/>
                </a:moveTo>
                <a:lnTo>
                  <a:pt x="86816" y="84336"/>
                </a:lnTo>
                <a:lnTo>
                  <a:pt x="86816" y="148828"/>
                </a:lnTo>
                <a:lnTo>
                  <a:pt x="128984" y="148828"/>
                </a:lnTo>
                <a:cubicBezTo>
                  <a:pt x="139929" y="148828"/>
                  <a:pt x="148828" y="139929"/>
                  <a:pt x="148828" y="128984"/>
                </a:cubicBezTo>
                <a:lnTo>
                  <a:pt x="148828" y="84336"/>
                </a:lnTo>
                <a:close/>
                <a:moveTo>
                  <a:pt x="71934" y="84336"/>
                </a:moveTo>
                <a:lnTo>
                  <a:pt x="9922" y="84336"/>
                </a:lnTo>
                <a:lnTo>
                  <a:pt x="9922" y="128984"/>
                </a:lnTo>
                <a:cubicBezTo>
                  <a:pt x="9922" y="139929"/>
                  <a:pt x="18821" y="148828"/>
                  <a:pt x="29766" y="148828"/>
                </a:cubicBezTo>
                <a:lnTo>
                  <a:pt x="71934" y="148828"/>
                </a:lnTo>
                <a:lnTo>
                  <a:pt x="71934" y="84336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6" name="Text 53"/>
          <p:cNvSpPr/>
          <p:nvPr/>
        </p:nvSpPr>
        <p:spPr>
          <a:xfrm>
            <a:off x="6619081" y="6350000"/>
            <a:ext cx="516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Corporate Culture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619081" y="6604000"/>
            <a:ext cx="515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Reliance Jio Diwali Gift (50K+) reflects interest in corporate celebrations and employee benefits.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SEASON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Cultural Search Behavior During Festivals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5699125" cy="2651125"/>
          </a:xfrm>
          <a:custGeom>
            <a:avLst/>
            <a:gdLst/>
            <a:ahLst/>
            <a:cxnLst/>
            <a:rect l="l" t="t" r="r" b="b"/>
            <a:pathLst>
              <a:path w="5699125" h="2651125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2587631"/>
                </a:lnTo>
                <a:cubicBezTo>
                  <a:pt x="5699125" y="2622698"/>
                  <a:pt x="5670698" y="2651125"/>
                  <a:pt x="5635631" y="2651125"/>
                </a:cubicBezTo>
                <a:lnTo>
                  <a:pt x="63494" y="2651125"/>
                </a:lnTo>
                <a:cubicBezTo>
                  <a:pt x="28427" y="2651125"/>
                  <a:pt x="0" y="2622698"/>
                  <a:pt x="0" y="2587631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6250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Search Timeline</a:t>
            </a:r>
            <a:endParaRPr lang="en-US" sz="1600" dirty="0"/>
          </a:p>
        </p:txBody>
      </p:sp>
      <p:pic>
        <p:nvPicPr>
          <p:cNvPr id="6" name="Image 0" descr="https://kimi-img.moonshot.cn/pub/slides/26-02-28-04:20:56-d6gvpa051tqallf02tqg.png">    </p:cNvPr>
          <p:cNvPicPr>
            <a:picLocks noChangeAspect="1"/>
          </p:cNvPicPr>
          <p:nvPr/>
        </p:nvPicPr>
        <p:blipFill>
          <a:blip r:embed="rId1"/>
          <a:srcRect l="44" r="44" t="0" b="0"/>
          <a:stretch/>
        </p:blipFill>
        <p:spPr>
          <a:xfrm>
            <a:off x="476250" y="1524000"/>
            <a:ext cx="4365625" cy="1984375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317500" y="3794125"/>
            <a:ext cx="5699125" cy="3619500"/>
          </a:xfrm>
          <a:custGeom>
            <a:avLst/>
            <a:gdLst/>
            <a:ahLst/>
            <a:cxnLst/>
            <a:rect l="l" t="t" r="r" b="b"/>
            <a:pathLst>
              <a:path w="5699125" h="3619500">
                <a:moveTo>
                  <a:pt x="63486" y="0"/>
                </a:moveTo>
                <a:lnTo>
                  <a:pt x="5635639" y="0"/>
                </a:lnTo>
                <a:cubicBezTo>
                  <a:pt x="5670701" y="0"/>
                  <a:pt x="5699125" y="28424"/>
                  <a:pt x="5699125" y="63486"/>
                </a:cubicBezTo>
                <a:lnTo>
                  <a:pt x="5699125" y="3556014"/>
                </a:lnTo>
                <a:cubicBezTo>
                  <a:pt x="5699125" y="3591076"/>
                  <a:pt x="5670701" y="3619500"/>
                  <a:pt x="5635639" y="3619500"/>
                </a:cubicBezTo>
                <a:lnTo>
                  <a:pt x="63486" y="3619500"/>
                </a:lnTo>
                <a:cubicBezTo>
                  <a:pt x="28424" y="3619500"/>
                  <a:pt x="0" y="3591076"/>
                  <a:pt x="0" y="3556014"/>
                </a:cubicBezTo>
                <a:lnTo>
                  <a:pt x="0" y="63486"/>
                </a:lnTo>
                <a:cubicBezTo>
                  <a:pt x="0" y="28447"/>
                  <a:pt x="28447" y="0"/>
                  <a:pt x="6348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6250" y="3952875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Related Festival Queries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76250" y="4302125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4397375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Lakshmi Ji Ki Aarti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1500" y="4587875"/>
            <a:ext cx="1071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Religious practice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22107" y="4460875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6250" y="4905375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5000625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Govardhan Puja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" y="5191125"/>
            <a:ext cx="928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Post-Diwali ritual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22107" y="5064125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6250" y="5508625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5603875"/>
            <a:ext cx="881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Chhath Puja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71500" y="5794375"/>
            <a:ext cx="873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Bihar/UP festival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22107" y="5667375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6250" y="6111875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6207125"/>
            <a:ext cx="968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Bhai Dooj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1500" y="6397625"/>
            <a:ext cx="960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Sibling celebration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22801" y="6270625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50K+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76250" y="6715125"/>
            <a:ext cx="5381625" cy="539750"/>
          </a:xfrm>
          <a:custGeom>
            <a:avLst/>
            <a:gdLst/>
            <a:ahLst/>
            <a:cxnLst/>
            <a:rect l="l" t="t" r="r" b="b"/>
            <a:pathLst>
              <a:path w="5381625" h="539750">
                <a:moveTo>
                  <a:pt x="31748" y="0"/>
                </a:moveTo>
                <a:lnTo>
                  <a:pt x="5349877" y="0"/>
                </a:lnTo>
                <a:cubicBezTo>
                  <a:pt x="5367411" y="0"/>
                  <a:pt x="5381625" y="14214"/>
                  <a:pt x="5381625" y="31748"/>
                </a:cubicBezTo>
                <a:lnTo>
                  <a:pt x="5381625" y="508002"/>
                </a:lnTo>
                <a:cubicBezTo>
                  <a:pt x="5381625" y="525536"/>
                  <a:pt x="5367411" y="539750"/>
                  <a:pt x="5349877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681037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Ahoi Ashtami Ki Katha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71500" y="7000875"/>
            <a:ext cx="127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Mother's fasting story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22801" y="6873875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50K+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75375" y="1016000"/>
            <a:ext cx="5699125" cy="5016500"/>
          </a:xfrm>
          <a:custGeom>
            <a:avLst/>
            <a:gdLst/>
            <a:ahLst/>
            <a:cxnLst/>
            <a:rect l="l" t="t" r="r" b="b"/>
            <a:pathLst>
              <a:path w="5699125" h="5016500">
                <a:moveTo>
                  <a:pt x="63509" y="0"/>
                </a:moveTo>
                <a:lnTo>
                  <a:pt x="5635616" y="0"/>
                </a:lnTo>
                <a:cubicBezTo>
                  <a:pt x="5670691" y="0"/>
                  <a:pt x="5699125" y="28434"/>
                  <a:pt x="5699125" y="63509"/>
                </a:cubicBezTo>
                <a:lnTo>
                  <a:pt x="5699125" y="4952991"/>
                </a:lnTo>
                <a:cubicBezTo>
                  <a:pt x="5699125" y="4988066"/>
                  <a:pt x="5670691" y="5016500"/>
                  <a:pt x="5635616" y="5016500"/>
                </a:cubicBezTo>
                <a:lnTo>
                  <a:pt x="63509" y="5016500"/>
                </a:lnTo>
                <a:cubicBezTo>
                  <a:pt x="28434" y="5016500"/>
                  <a:pt x="0" y="4988066"/>
                  <a:pt x="0" y="4952991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0" name="Text 27"/>
          <p:cNvSpPr/>
          <p:nvPr/>
        </p:nvSpPr>
        <p:spPr>
          <a:xfrm>
            <a:off x="6334125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Multifaceted Festival Searches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334125" y="1524000"/>
            <a:ext cx="5381625" cy="857250"/>
          </a:xfrm>
          <a:custGeom>
            <a:avLst/>
            <a:gdLst/>
            <a:ahLst/>
            <a:cxnLst/>
            <a:rect l="l" t="t" r="r" b="b"/>
            <a:pathLst>
              <a:path w="5381625" h="857250">
                <a:moveTo>
                  <a:pt x="31753" y="0"/>
                </a:moveTo>
                <a:lnTo>
                  <a:pt x="5349872" y="0"/>
                </a:lnTo>
                <a:cubicBezTo>
                  <a:pt x="5367409" y="0"/>
                  <a:pt x="5381625" y="14216"/>
                  <a:pt x="5381625" y="31753"/>
                </a:cubicBezTo>
                <a:lnTo>
                  <a:pt x="5381625" y="825497"/>
                </a:lnTo>
                <a:cubicBezTo>
                  <a:pt x="5381625" y="843034"/>
                  <a:pt x="5367409" y="857250"/>
                  <a:pt x="5349872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449219" y="1651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3" name="Text 30"/>
          <p:cNvSpPr/>
          <p:nvPr/>
        </p:nvSpPr>
        <p:spPr>
          <a:xfrm>
            <a:off x="6723063" y="1619250"/>
            <a:ext cx="172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Timing &amp; Muhurat Queries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29375" y="1905000"/>
            <a:ext cx="525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Dhanteras Timing 2024 (1M+) leads festival searches, showing importance of auspicious timings in Indian culture.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34125" y="2476500"/>
            <a:ext cx="5381625" cy="857250"/>
          </a:xfrm>
          <a:custGeom>
            <a:avLst/>
            <a:gdLst/>
            <a:ahLst/>
            <a:cxnLst/>
            <a:rect l="l" t="t" r="r" b="b"/>
            <a:pathLst>
              <a:path w="5381625" h="857250">
                <a:moveTo>
                  <a:pt x="31753" y="0"/>
                </a:moveTo>
                <a:lnTo>
                  <a:pt x="5349872" y="0"/>
                </a:lnTo>
                <a:cubicBezTo>
                  <a:pt x="5367409" y="0"/>
                  <a:pt x="5381625" y="14216"/>
                  <a:pt x="5381625" y="31753"/>
                </a:cubicBezTo>
                <a:lnTo>
                  <a:pt x="5381625" y="825497"/>
                </a:lnTo>
                <a:cubicBezTo>
                  <a:pt x="5381625" y="843034"/>
                  <a:pt x="5367409" y="857250"/>
                  <a:pt x="5349872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439297" y="2603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983" y="3194"/>
                </a:moveTo>
                <a:lnTo>
                  <a:pt x="80336" y="48989"/>
                </a:lnTo>
                <a:cubicBezTo>
                  <a:pt x="71313" y="55004"/>
                  <a:pt x="65577" y="64771"/>
                  <a:pt x="64647" y="75437"/>
                </a:cubicBezTo>
                <a:cubicBezTo>
                  <a:pt x="83964" y="79406"/>
                  <a:pt x="99188" y="94630"/>
                  <a:pt x="103188" y="113978"/>
                </a:cubicBezTo>
                <a:cubicBezTo>
                  <a:pt x="113885" y="113047"/>
                  <a:pt x="123620" y="107311"/>
                  <a:pt x="129635" y="98289"/>
                </a:cubicBezTo>
                <a:lnTo>
                  <a:pt x="175400" y="29611"/>
                </a:lnTo>
                <a:cubicBezTo>
                  <a:pt x="177478" y="26479"/>
                  <a:pt x="178594" y="22820"/>
                  <a:pt x="178594" y="19038"/>
                </a:cubicBezTo>
                <a:cubicBezTo>
                  <a:pt x="178594" y="8527"/>
                  <a:pt x="170067" y="0"/>
                  <a:pt x="159556" y="0"/>
                </a:cubicBezTo>
                <a:cubicBezTo>
                  <a:pt x="155804" y="0"/>
                  <a:pt x="152115" y="1116"/>
                  <a:pt x="148983" y="3194"/>
                </a:cubicBezTo>
                <a:close/>
                <a:moveTo>
                  <a:pt x="89297" y="124023"/>
                </a:moveTo>
                <a:cubicBezTo>
                  <a:pt x="89297" y="104831"/>
                  <a:pt x="73763" y="89297"/>
                  <a:pt x="54570" y="89297"/>
                </a:cubicBezTo>
                <a:cubicBezTo>
                  <a:pt x="35378" y="89297"/>
                  <a:pt x="19844" y="104831"/>
                  <a:pt x="19844" y="124023"/>
                </a:cubicBezTo>
                <a:cubicBezTo>
                  <a:pt x="19844" y="125233"/>
                  <a:pt x="19906" y="126442"/>
                  <a:pt x="20030" y="127620"/>
                </a:cubicBezTo>
                <a:cubicBezTo>
                  <a:pt x="20588" y="133046"/>
                  <a:pt x="16867" y="138906"/>
                  <a:pt x="11410" y="138906"/>
                </a:cubicBezTo>
                <a:lnTo>
                  <a:pt x="9922" y="138906"/>
                </a:lnTo>
                <a:cubicBezTo>
                  <a:pt x="4434" y="138906"/>
                  <a:pt x="0" y="143340"/>
                  <a:pt x="0" y="148828"/>
                </a:cubicBezTo>
                <a:cubicBezTo>
                  <a:pt x="0" y="154316"/>
                  <a:pt x="4434" y="158750"/>
                  <a:pt x="9922" y="158750"/>
                </a:cubicBezTo>
                <a:lnTo>
                  <a:pt x="54570" y="158750"/>
                </a:lnTo>
                <a:cubicBezTo>
                  <a:pt x="73763" y="158750"/>
                  <a:pt x="89297" y="143216"/>
                  <a:pt x="89297" y="124023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7" name="Text 34"/>
          <p:cNvSpPr/>
          <p:nvPr/>
        </p:nvSpPr>
        <p:spPr>
          <a:xfrm>
            <a:off x="6723063" y="2571750"/>
            <a:ext cx="113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Decoration Ideas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429375" y="2857500"/>
            <a:ext cx="525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Rangoli (200K+) and decoration searches reflect the creative and aesthetic aspects of festival celebrations.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34125" y="3429000"/>
            <a:ext cx="5381625" cy="857250"/>
          </a:xfrm>
          <a:custGeom>
            <a:avLst/>
            <a:gdLst/>
            <a:ahLst/>
            <a:cxnLst/>
            <a:rect l="l" t="t" r="r" b="b"/>
            <a:pathLst>
              <a:path w="5381625" h="857250">
                <a:moveTo>
                  <a:pt x="31753" y="0"/>
                </a:moveTo>
                <a:lnTo>
                  <a:pt x="5349872" y="0"/>
                </a:lnTo>
                <a:cubicBezTo>
                  <a:pt x="5367409" y="0"/>
                  <a:pt x="5381625" y="14216"/>
                  <a:pt x="5381625" y="31753"/>
                </a:cubicBezTo>
                <a:lnTo>
                  <a:pt x="5381625" y="825497"/>
                </a:lnTo>
                <a:cubicBezTo>
                  <a:pt x="5381625" y="843034"/>
                  <a:pt x="5367409" y="857250"/>
                  <a:pt x="5349872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449219" y="3556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48828"/>
                </a:moveTo>
                <a:cubicBezTo>
                  <a:pt x="123217" y="148828"/>
                  <a:pt x="158750" y="115497"/>
                  <a:pt x="158750" y="74414"/>
                </a:cubicBezTo>
                <a:cubicBezTo>
                  <a:pt x="158750" y="33331"/>
                  <a:pt x="123217" y="0"/>
                  <a:pt x="79375" y="0"/>
                </a:cubicBezTo>
                <a:cubicBezTo>
                  <a:pt x="35533" y="0"/>
                  <a:pt x="0" y="33331"/>
                  <a:pt x="0" y="74414"/>
                </a:cubicBezTo>
                <a:cubicBezTo>
                  <a:pt x="0" y="91250"/>
                  <a:pt x="5953" y="106753"/>
                  <a:pt x="15999" y="119218"/>
                </a:cubicBezTo>
                <a:lnTo>
                  <a:pt x="868" y="147836"/>
                </a:lnTo>
                <a:cubicBezTo>
                  <a:pt x="-620" y="150626"/>
                  <a:pt x="-155" y="154037"/>
                  <a:pt x="1984" y="156363"/>
                </a:cubicBezTo>
                <a:cubicBezTo>
                  <a:pt x="4124" y="158688"/>
                  <a:pt x="7503" y="159401"/>
                  <a:pt x="10387" y="158161"/>
                </a:cubicBezTo>
                <a:lnTo>
                  <a:pt x="47098" y="142441"/>
                </a:lnTo>
                <a:cubicBezTo>
                  <a:pt x="56958" y="146534"/>
                  <a:pt x="67872" y="148828"/>
                  <a:pt x="79375" y="148828"/>
                </a:cubicBezTo>
                <a:close/>
                <a:moveTo>
                  <a:pt x="39688" y="64492"/>
                </a:moveTo>
                <a:cubicBezTo>
                  <a:pt x="45164" y="64492"/>
                  <a:pt x="49609" y="68938"/>
                  <a:pt x="49609" y="74414"/>
                </a:cubicBezTo>
                <a:cubicBezTo>
                  <a:pt x="49609" y="79890"/>
                  <a:pt x="45164" y="84336"/>
                  <a:pt x="39688" y="84336"/>
                </a:cubicBezTo>
                <a:cubicBezTo>
                  <a:pt x="34211" y="84336"/>
                  <a:pt x="29766" y="79890"/>
                  <a:pt x="29766" y="74414"/>
                </a:cubicBezTo>
                <a:cubicBezTo>
                  <a:pt x="29766" y="68938"/>
                  <a:pt x="34211" y="64492"/>
                  <a:pt x="39688" y="64492"/>
                </a:cubicBezTo>
                <a:close/>
                <a:moveTo>
                  <a:pt x="79375" y="64492"/>
                </a:moveTo>
                <a:cubicBezTo>
                  <a:pt x="84851" y="64492"/>
                  <a:pt x="89297" y="68938"/>
                  <a:pt x="89297" y="74414"/>
                </a:cubicBezTo>
                <a:cubicBezTo>
                  <a:pt x="89297" y="79890"/>
                  <a:pt x="84851" y="84336"/>
                  <a:pt x="79375" y="84336"/>
                </a:cubicBezTo>
                <a:cubicBezTo>
                  <a:pt x="73899" y="84336"/>
                  <a:pt x="69453" y="79890"/>
                  <a:pt x="69453" y="74414"/>
                </a:cubicBezTo>
                <a:cubicBezTo>
                  <a:pt x="69453" y="68938"/>
                  <a:pt x="73899" y="64492"/>
                  <a:pt x="79375" y="64492"/>
                </a:cubicBezTo>
                <a:close/>
                <a:moveTo>
                  <a:pt x="109141" y="74414"/>
                </a:moveTo>
                <a:cubicBezTo>
                  <a:pt x="109141" y="68938"/>
                  <a:pt x="113586" y="64492"/>
                  <a:pt x="119062" y="64492"/>
                </a:cubicBezTo>
                <a:cubicBezTo>
                  <a:pt x="124539" y="64492"/>
                  <a:pt x="128984" y="68938"/>
                  <a:pt x="128984" y="74414"/>
                </a:cubicBezTo>
                <a:cubicBezTo>
                  <a:pt x="128984" y="79890"/>
                  <a:pt x="124539" y="84336"/>
                  <a:pt x="119062" y="84336"/>
                </a:cubicBezTo>
                <a:cubicBezTo>
                  <a:pt x="113586" y="84336"/>
                  <a:pt x="109141" y="79890"/>
                  <a:pt x="109141" y="74414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1" name="Text 38"/>
          <p:cNvSpPr/>
          <p:nvPr/>
        </p:nvSpPr>
        <p:spPr>
          <a:xfrm>
            <a:off x="6723063" y="3524250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Greeting Sharing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29375" y="3810000"/>
            <a:ext cx="525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 Wishes (200K+) and Happy Diwali Wishes (200K+) show digital greeting culture adoption.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34125" y="4381500"/>
            <a:ext cx="5381625" cy="857250"/>
          </a:xfrm>
          <a:custGeom>
            <a:avLst/>
            <a:gdLst/>
            <a:ahLst/>
            <a:cxnLst/>
            <a:rect l="l" t="t" r="r" b="b"/>
            <a:pathLst>
              <a:path w="5381625" h="857250">
                <a:moveTo>
                  <a:pt x="31753" y="0"/>
                </a:moveTo>
                <a:lnTo>
                  <a:pt x="5349872" y="0"/>
                </a:lnTo>
                <a:cubicBezTo>
                  <a:pt x="5367409" y="0"/>
                  <a:pt x="5381625" y="14216"/>
                  <a:pt x="5381625" y="31753"/>
                </a:cubicBezTo>
                <a:lnTo>
                  <a:pt x="5381625" y="825497"/>
                </a:lnTo>
                <a:cubicBezTo>
                  <a:pt x="5381625" y="843034"/>
                  <a:pt x="5367409" y="857250"/>
                  <a:pt x="5349872" y="857250"/>
                </a:cubicBezTo>
                <a:lnTo>
                  <a:pt x="31753" y="857250"/>
                </a:lnTo>
                <a:cubicBezTo>
                  <a:pt x="14216" y="857250"/>
                  <a:pt x="0" y="843034"/>
                  <a:pt x="0" y="825497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59141" y="45085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0"/>
                </a:moveTo>
                <a:cubicBezTo>
                  <a:pt x="45176" y="0"/>
                  <a:pt x="49609" y="4434"/>
                  <a:pt x="49609" y="9922"/>
                </a:cubicBezTo>
                <a:lnTo>
                  <a:pt x="49609" y="19844"/>
                </a:lnTo>
                <a:lnTo>
                  <a:pt x="89297" y="19844"/>
                </a:lnTo>
                <a:lnTo>
                  <a:pt x="89297" y="9922"/>
                </a:lnTo>
                <a:cubicBezTo>
                  <a:pt x="89297" y="4434"/>
                  <a:pt x="93731" y="0"/>
                  <a:pt x="99219" y="0"/>
                </a:cubicBezTo>
                <a:cubicBezTo>
                  <a:pt x="104707" y="0"/>
                  <a:pt x="109141" y="4434"/>
                  <a:pt x="109141" y="9922"/>
                </a:cubicBezTo>
                <a:lnTo>
                  <a:pt x="109141" y="19844"/>
                </a:lnTo>
                <a:lnTo>
                  <a:pt x="119062" y="19844"/>
                </a:lnTo>
                <a:cubicBezTo>
                  <a:pt x="130008" y="19844"/>
                  <a:pt x="138906" y="28742"/>
                  <a:pt x="138906" y="39688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39688"/>
                </a:lnTo>
                <a:cubicBezTo>
                  <a:pt x="0" y="28742"/>
                  <a:pt x="8899" y="19844"/>
                  <a:pt x="19844" y="19844"/>
                </a:cubicBezTo>
                <a:lnTo>
                  <a:pt x="29766" y="19844"/>
                </a:lnTo>
                <a:lnTo>
                  <a:pt x="29766" y="9922"/>
                </a:lnTo>
                <a:cubicBezTo>
                  <a:pt x="29766" y="4434"/>
                  <a:pt x="34199" y="0"/>
                  <a:pt x="39688" y="0"/>
                </a:cubicBezTo>
                <a:close/>
                <a:moveTo>
                  <a:pt x="95622" y="70910"/>
                </a:moveTo>
                <a:cubicBezTo>
                  <a:pt x="97792" y="67438"/>
                  <a:pt x="96738" y="62849"/>
                  <a:pt x="93266" y="60647"/>
                </a:cubicBezTo>
                <a:cubicBezTo>
                  <a:pt x="89793" y="58446"/>
                  <a:pt x="85204" y="59531"/>
                  <a:pt x="83003" y="63004"/>
                </a:cubicBezTo>
                <a:lnTo>
                  <a:pt x="63965" y="93483"/>
                </a:lnTo>
                <a:lnTo>
                  <a:pt x="55594" y="82321"/>
                </a:lnTo>
                <a:cubicBezTo>
                  <a:pt x="53113" y="79034"/>
                  <a:pt x="48462" y="78352"/>
                  <a:pt x="45176" y="80832"/>
                </a:cubicBezTo>
                <a:cubicBezTo>
                  <a:pt x="41889" y="83313"/>
                  <a:pt x="41207" y="87964"/>
                  <a:pt x="43687" y="91250"/>
                </a:cubicBezTo>
                <a:lnTo>
                  <a:pt x="58570" y="111094"/>
                </a:lnTo>
                <a:cubicBezTo>
                  <a:pt x="60027" y="113047"/>
                  <a:pt x="62384" y="114164"/>
                  <a:pt x="64833" y="114071"/>
                </a:cubicBezTo>
                <a:cubicBezTo>
                  <a:pt x="67283" y="113978"/>
                  <a:pt x="69515" y="112675"/>
                  <a:pt x="70817" y="110567"/>
                </a:cubicBezTo>
                <a:lnTo>
                  <a:pt x="95622" y="70879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5" name="Text 42"/>
          <p:cNvSpPr/>
          <p:nvPr/>
        </p:nvSpPr>
        <p:spPr>
          <a:xfrm>
            <a:off x="6723063" y="4476750"/>
            <a:ext cx="130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Holiday Information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29375" y="4762500"/>
            <a:ext cx="525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 Holidays (50K+) and office closure queries reflect practical planning needs during festivals.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175375" y="6159500"/>
            <a:ext cx="5699125" cy="1254125"/>
          </a:xfrm>
          <a:custGeom>
            <a:avLst/>
            <a:gdLst/>
            <a:ahLst/>
            <a:cxnLst/>
            <a:rect l="l" t="t" r="r" b="b"/>
            <a:pathLst>
              <a:path w="5699125" h="1254125">
                <a:moveTo>
                  <a:pt x="63496" y="0"/>
                </a:moveTo>
                <a:lnTo>
                  <a:pt x="5635629" y="0"/>
                </a:lnTo>
                <a:cubicBezTo>
                  <a:pt x="5670697" y="0"/>
                  <a:pt x="5699125" y="28428"/>
                  <a:pt x="5699125" y="63496"/>
                </a:cubicBezTo>
                <a:lnTo>
                  <a:pt x="5699125" y="1190629"/>
                </a:lnTo>
                <a:cubicBezTo>
                  <a:pt x="5699125" y="1225697"/>
                  <a:pt x="5670697" y="1254125"/>
                  <a:pt x="5635629" y="1254125"/>
                </a:cubicBezTo>
                <a:lnTo>
                  <a:pt x="63496" y="1254125"/>
                </a:lnTo>
                <a:cubicBezTo>
                  <a:pt x="28428" y="1254125"/>
                  <a:pt x="0" y="1225697"/>
                  <a:pt x="0" y="119062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8" name="Text 45"/>
          <p:cNvSpPr/>
          <p:nvPr/>
        </p:nvSpPr>
        <p:spPr>
          <a:xfrm>
            <a:off x="6334125" y="63182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Linguistic Diversity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334125" y="6635750"/>
            <a:ext cx="54451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searches show strong regional language presence with Hindi queries (Dhanteras, Lakshmi Ji Ki Aarti) alongside English, reflecting India's multilingual digital behavior. Regional festivals like Chhath Puja (20K+) demonstrate geographic diversity in search patterns.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ljazeera.com/921ebc7e51e08dad6a50ac1697fe9e9aadad1efc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703" b="770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8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552575"/>
            <a:ext cx="47339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000375"/>
            <a:ext cx="44100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6577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5000625"/>
            <a:ext cx="4238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Movies, OTT, Tech &amp; Digital Behavior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&amp;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Entertainment: Movies, OTT &amp; Celebrity Culture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5699125" cy="1746250"/>
          </a:xfrm>
          <a:custGeom>
            <a:avLst/>
            <a:gdLst/>
            <a:ahLst/>
            <a:cxnLst/>
            <a:rect l="l" t="t" r="r" b="b"/>
            <a:pathLst>
              <a:path w="5699125" h="1746250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1682756"/>
                </a:lnTo>
                <a:cubicBezTo>
                  <a:pt x="5699125" y="1717823"/>
                  <a:pt x="5670698" y="1746250"/>
                  <a:pt x="5635631" y="1746250"/>
                </a:cubicBezTo>
                <a:lnTo>
                  <a:pt x="63494" y="1746250"/>
                </a:lnTo>
                <a:cubicBezTo>
                  <a:pt x="28427" y="1746250"/>
                  <a:pt x="0" y="1717823"/>
                  <a:pt x="0" y="16827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76250" y="1174750"/>
            <a:ext cx="2119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06852" y="1182587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0" y="44648"/>
                </a:moveTo>
                <a:cubicBezTo>
                  <a:pt x="0" y="28231"/>
                  <a:pt x="13348" y="14883"/>
                  <a:pt x="29766" y="14883"/>
                </a:cubicBezTo>
                <a:lnTo>
                  <a:pt x="178594" y="14883"/>
                </a:lnTo>
                <a:cubicBezTo>
                  <a:pt x="195011" y="14883"/>
                  <a:pt x="208359" y="28231"/>
                  <a:pt x="208359" y="44648"/>
                </a:cubicBezTo>
                <a:lnTo>
                  <a:pt x="208359" y="193477"/>
                </a:lnTo>
                <a:cubicBezTo>
                  <a:pt x="208359" y="209894"/>
                  <a:pt x="195011" y="223242"/>
                  <a:pt x="178594" y="223242"/>
                </a:cubicBezTo>
                <a:lnTo>
                  <a:pt x="29766" y="223242"/>
                </a:lnTo>
                <a:cubicBezTo>
                  <a:pt x="13348" y="223242"/>
                  <a:pt x="0" y="209894"/>
                  <a:pt x="0" y="193477"/>
                </a:cubicBezTo>
                <a:lnTo>
                  <a:pt x="0" y="44648"/>
                </a:lnTo>
                <a:close/>
                <a:moveTo>
                  <a:pt x="22324" y="171152"/>
                </a:moveTo>
                <a:lnTo>
                  <a:pt x="22324" y="186035"/>
                </a:lnTo>
                <a:cubicBezTo>
                  <a:pt x="22324" y="190128"/>
                  <a:pt x="25673" y="193477"/>
                  <a:pt x="29766" y="193477"/>
                </a:cubicBezTo>
                <a:lnTo>
                  <a:pt x="44648" y="193477"/>
                </a:lnTo>
                <a:cubicBezTo>
                  <a:pt x="48741" y="193477"/>
                  <a:pt x="52090" y="190128"/>
                  <a:pt x="52090" y="186035"/>
                </a:cubicBezTo>
                <a:lnTo>
                  <a:pt x="52090" y="171152"/>
                </a:lnTo>
                <a:cubicBezTo>
                  <a:pt x="52090" y="167060"/>
                  <a:pt x="48741" y="163711"/>
                  <a:pt x="44648" y="163711"/>
                </a:cubicBezTo>
                <a:lnTo>
                  <a:pt x="29766" y="163711"/>
                </a:lnTo>
                <a:cubicBezTo>
                  <a:pt x="25673" y="163711"/>
                  <a:pt x="22324" y="167060"/>
                  <a:pt x="22324" y="171152"/>
                </a:cubicBezTo>
                <a:close/>
                <a:moveTo>
                  <a:pt x="163711" y="163711"/>
                </a:moveTo>
                <a:cubicBezTo>
                  <a:pt x="159618" y="163711"/>
                  <a:pt x="156270" y="167060"/>
                  <a:pt x="156270" y="171152"/>
                </a:cubicBezTo>
                <a:lnTo>
                  <a:pt x="156270" y="186035"/>
                </a:lnTo>
                <a:cubicBezTo>
                  <a:pt x="156270" y="190128"/>
                  <a:pt x="159618" y="193477"/>
                  <a:pt x="163711" y="193477"/>
                </a:cubicBezTo>
                <a:lnTo>
                  <a:pt x="178594" y="193477"/>
                </a:lnTo>
                <a:cubicBezTo>
                  <a:pt x="182687" y="193477"/>
                  <a:pt x="186035" y="190128"/>
                  <a:pt x="186035" y="186035"/>
                </a:cubicBezTo>
                <a:lnTo>
                  <a:pt x="186035" y="171152"/>
                </a:lnTo>
                <a:cubicBezTo>
                  <a:pt x="186035" y="167060"/>
                  <a:pt x="182687" y="163711"/>
                  <a:pt x="178594" y="163711"/>
                </a:cubicBezTo>
                <a:lnTo>
                  <a:pt x="163711" y="163711"/>
                </a:lnTo>
                <a:close/>
                <a:moveTo>
                  <a:pt x="22324" y="111621"/>
                </a:moveTo>
                <a:lnTo>
                  <a:pt x="22324" y="126504"/>
                </a:lnTo>
                <a:cubicBezTo>
                  <a:pt x="22324" y="130597"/>
                  <a:pt x="25673" y="133945"/>
                  <a:pt x="29766" y="133945"/>
                </a:cubicBezTo>
                <a:lnTo>
                  <a:pt x="44648" y="133945"/>
                </a:lnTo>
                <a:cubicBezTo>
                  <a:pt x="48741" y="133945"/>
                  <a:pt x="52090" y="130597"/>
                  <a:pt x="52090" y="126504"/>
                </a:cubicBezTo>
                <a:lnTo>
                  <a:pt x="52090" y="111621"/>
                </a:lnTo>
                <a:cubicBezTo>
                  <a:pt x="52090" y="107528"/>
                  <a:pt x="48741" y="104180"/>
                  <a:pt x="44648" y="104180"/>
                </a:cubicBezTo>
                <a:lnTo>
                  <a:pt x="29766" y="104180"/>
                </a:lnTo>
                <a:cubicBezTo>
                  <a:pt x="25673" y="104180"/>
                  <a:pt x="22324" y="107528"/>
                  <a:pt x="22324" y="111621"/>
                </a:cubicBezTo>
                <a:close/>
                <a:moveTo>
                  <a:pt x="163711" y="104180"/>
                </a:moveTo>
                <a:cubicBezTo>
                  <a:pt x="159618" y="104180"/>
                  <a:pt x="156270" y="107528"/>
                  <a:pt x="156270" y="111621"/>
                </a:cubicBezTo>
                <a:lnTo>
                  <a:pt x="156270" y="126504"/>
                </a:lnTo>
                <a:cubicBezTo>
                  <a:pt x="156270" y="130597"/>
                  <a:pt x="159618" y="133945"/>
                  <a:pt x="163711" y="133945"/>
                </a:cubicBezTo>
                <a:lnTo>
                  <a:pt x="178594" y="133945"/>
                </a:lnTo>
                <a:cubicBezTo>
                  <a:pt x="182687" y="133945"/>
                  <a:pt x="186035" y="130597"/>
                  <a:pt x="186035" y="126504"/>
                </a:cubicBezTo>
                <a:lnTo>
                  <a:pt x="186035" y="111621"/>
                </a:lnTo>
                <a:cubicBezTo>
                  <a:pt x="186035" y="107528"/>
                  <a:pt x="182687" y="104180"/>
                  <a:pt x="178594" y="104180"/>
                </a:cubicBezTo>
                <a:lnTo>
                  <a:pt x="163711" y="104180"/>
                </a:lnTo>
                <a:close/>
                <a:moveTo>
                  <a:pt x="22324" y="52090"/>
                </a:moveTo>
                <a:lnTo>
                  <a:pt x="22324" y="66973"/>
                </a:lnTo>
                <a:cubicBezTo>
                  <a:pt x="22324" y="71065"/>
                  <a:pt x="25673" y="74414"/>
                  <a:pt x="29766" y="74414"/>
                </a:cubicBezTo>
                <a:lnTo>
                  <a:pt x="44648" y="74414"/>
                </a:lnTo>
                <a:cubicBezTo>
                  <a:pt x="48741" y="74414"/>
                  <a:pt x="52090" y="71065"/>
                  <a:pt x="52090" y="66973"/>
                </a:cubicBezTo>
                <a:lnTo>
                  <a:pt x="52090" y="52090"/>
                </a:lnTo>
                <a:cubicBezTo>
                  <a:pt x="52090" y="47997"/>
                  <a:pt x="48741" y="44648"/>
                  <a:pt x="44648" y="44648"/>
                </a:cubicBezTo>
                <a:lnTo>
                  <a:pt x="29766" y="44648"/>
                </a:lnTo>
                <a:cubicBezTo>
                  <a:pt x="25673" y="44648"/>
                  <a:pt x="22324" y="47997"/>
                  <a:pt x="22324" y="52090"/>
                </a:cubicBezTo>
                <a:close/>
                <a:moveTo>
                  <a:pt x="163711" y="44648"/>
                </a:moveTo>
                <a:cubicBezTo>
                  <a:pt x="159618" y="44648"/>
                  <a:pt x="156270" y="47997"/>
                  <a:pt x="156270" y="52090"/>
                </a:cubicBezTo>
                <a:lnTo>
                  <a:pt x="156270" y="66973"/>
                </a:lnTo>
                <a:cubicBezTo>
                  <a:pt x="156270" y="71065"/>
                  <a:pt x="159618" y="74414"/>
                  <a:pt x="163711" y="74414"/>
                </a:cubicBezTo>
                <a:lnTo>
                  <a:pt x="178594" y="74414"/>
                </a:lnTo>
                <a:cubicBezTo>
                  <a:pt x="182687" y="74414"/>
                  <a:pt x="186035" y="71065"/>
                  <a:pt x="186035" y="66973"/>
                </a:cubicBezTo>
                <a:lnTo>
                  <a:pt x="186035" y="52090"/>
                </a:lnTo>
                <a:cubicBezTo>
                  <a:pt x="186035" y="47997"/>
                  <a:pt x="182687" y="44648"/>
                  <a:pt x="178594" y="44648"/>
                </a:cubicBezTo>
                <a:lnTo>
                  <a:pt x="163711" y="44648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5"/>
          <p:cNvSpPr/>
          <p:nvPr/>
        </p:nvSpPr>
        <p:spPr>
          <a:xfrm>
            <a:off x="404813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469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40955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4611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77196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3.9%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0853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2190649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searches peak around movie releases, OTT launches, and celebrity events. Bollywood and South Indian cinema drive significant engagement.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" y="2889149"/>
            <a:ext cx="5699125" cy="4445000"/>
          </a:xfrm>
          <a:custGeom>
            <a:avLst/>
            <a:gdLst/>
            <a:ahLst/>
            <a:cxnLst/>
            <a:rect l="l" t="t" r="r" b="b"/>
            <a:pathLst>
              <a:path w="5699125" h="4445000">
                <a:moveTo>
                  <a:pt x="63519" y="0"/>
                </a:moveTo>
                <a:lnTo>
                  <a:pt x="5635606" y="0"/>
                </a:lnTo>
                <a:cubicBezTo>
                  <a:pt x="5670687" y="0"/>
                  <a:pt x="5699125" y="28438"/>
                  <a:pt x="5699125" y="63519"/>
                </a:cubicBezTo>
                <a:lnTo>
                  <a:pt x="5699125" y="4381481"/>
                </a:lnTo>
                <a:cubicBezTo>
                  <a:pt x="5699125" y="4416562"/>
                  <a:pt x="5670687" y="4445000"/>
                  <a:pt x="5635606" y="4445000"/>
                </a:cubicBezTo>
                <a:lnTo>
                  <a:pt x="63519" y="4445000"/>
                </a:lnTo>
                <a:cubicBezTo>
                  <a:pt x="28438" y="4445000"/>
                  <a:pt x="0" y="4416562"/>
                  <a:pt x="0" y="4381481"/>
                </a:cubicBezTo>
                <a:lnTo>
                  <a:pt x="0" y="63519"/>
                </a:lnTo>
                <a:cubicBezTo>
                  <a:pt x="0" y="28462"/>
                  <a:pt x="28462" y="0"/>
                  <a:pt x="635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250" y="3047899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Entertainment Queries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125" y="339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125" y="339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" y="3492399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Lottery Sambad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" y="3682899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numbers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88049" y="3540024"/>
            <a:ext cx="666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500K+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125" y="4032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2125" y="4032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" y="4127399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JioHotstar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" y="4317899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platform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3002" y="4190899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2125" y="466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2125" y="466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762399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Vettaiyan OTT Release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250" y="4952899"/>
            <a:ext cx="1325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Rajinikanth movie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11775" y="4825899"/>
            <a:ext cx="53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2125" y="5302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2125" y="5302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3" name="Text 31"/>
          <p:cNvSpPr/>
          <p:nvPr/>
        </p:nvSpPr>
        <p:spPr>
          <a:xfrm>
            <a:off x="603250" y="5397399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Singham Again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250" y="5587899"/>
            <a:ext cx="89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Release date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11775" y="5460899"/>
            <a:ext cx="53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2125" y="593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92125" y="593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03250" y="6032399"/>
            <a:ext cx="135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Amaran Ticket Booking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250" y="6222899"/>
            <a:ext cx="134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Sivakarthikeyan film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11775" y="6095899"/>
            <a:ext cx="531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100K+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016000"/>
            <a:ext cx="5699125" cy="2889250"/>
          </a:xfrm>
          <a:custGeom>
            <a:avLst/>
            <a:gdLst/>
            <a:ahLst/>
            <a:cxnLst/>
            <a:rect l="l" t="t" r="r" b="b"/>
            <a:pathLst>
              <a:path w="5699125" h="2889250">
                <a:moveTo>
                  <a:pt x="63506" y="0"/>
                </a:moveTo>
                <a:lnTo>
                  <a:pt x="5635619" y="0"/>
                </a:lnTo>
                <a:cubicBezTo>
                  <a:pt x="5670693" y="0"/>
                  <a:pt x="5699125" y="28432"/>
                  <a:pt x="5699125" y="63506"/>
                </a:cubicBezTo>
                <a:lnTo>
                  <a:pt x="5699125" y="2825744"/>
                </a:lnTo>
                <a:cubicBezTo>
                  <a:pt x="5699125" y="2860818"/>
                  <a:pt x="5670693" y="2889250"/>
                  <a:pt x="5635619" y="2889250"/>
                </a:cubicBezTo>
                <a:lnTo>
                  <a:pt x="63506" y="2889250"/>
                </a:lnTo>
                <a:cubicBezTo>
                  <a:pt x="28432" y="2889250"/>
                  <a:pt x="0" y="2860818"/>
                  <a:pt x="0" y="28257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34125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Categories</a:t>
            </a:r>
            <a:endParaRPr lang="en-US" sz="1600" dirty="0"/>
          </a:p>
        </p:txBody>
      </p:sp>
      <p:pic>
        <p:nvPicPr>
          <p:cNvPr id="43" name="Image 0" descr="https://kimi-img.moonshot.cn/pub/slides/26-02-28-04:20:56-d6gvpa0h9472ohjdfpdg.png">    </p:cNvPr>
          <p:cNvPicPr>
            <a:picLocks noChangeAspect="1"/>
          </p:cNvPicPr>
          <p:nvPr/>
        </p:nvPicPr>
        <p:blipFill>
          <a:blip r:embed="rId1"/>
          <a:srcRect l="0" r="0" t="36" b="36"/>
          <a:stretch/>
        </p:blipFill>
        <p:spPr>
          <a:xfrm>
            <a:off x="6334125" y="1524000"/>
            <a:ext cx="4365625" cy="2222500"/>
          </a:xfrm>
          <a:prstGeom prst="roundRect">
            <a:avLst>
              <a:gd name="adj" fmla="val 0"/>
            </a:avLst>
          </a:prstGeom>
        </p:spPr>
      </p:pic>
      <p:sp>
        <p:nvSpPr>
          <p:cNvPr id="44" name="Shape 41"/>
          <p:cNvSpPr/>
          <p:nvPr/>
        </p:nvSpPr>
        <p:spPr>
          <a:xfrm>
            <a:off x="6175375" y="4032250"/>
            <a:ext cx="5699125" cy="3302000"/>
          </a:xfrm>
          <a:custGeom>
            <a:avLst/>
            <a:gdLst/>
            <a:ahLst/>
            <a:cxnLst/>
            <a:rect l="l" t="t" r="r" b="b"/>
            <a:pathLst>
              <a:path w="5699125" h="3302000">
                <a:moveTo>
                  <a:pt x="63497" y="0"/>
                </a:moveTo>
                <a:lnTo>
                  <a:pt x="5635628" y="0"/>
                </a:lnTo>
                <a:cubicBezTo>
                  <a:pt x="5670696" y="0"/>
                  <a:pt x="5699125" y="28429"/>
                  <a:pt x="5699125" y="63497"/>
                </a:cubicBezTo>
                <a:lnTo>
                  <a:pt x="5699125" y="3238503"/>
                </a:lnTo>
                <a:cubicBezTo>
                  <a:pt x="5699125" y="3273571"/>
                  <a:pt x="5670696" y="3302000"/>
                  <a:pt x="5635628" y="3302000"/>
                </a:cubicBezTo>
                <a:lnTo>
                  <a:pt x="63497" y="3302000"/>
                </a:lnTo>
                <a:cubicBezTo>
                  <a:pt x="28429" y="3302000"/>
                  <a:pt x="0" y="3273571"/>
                  <a:pt x="0" y="323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5" name="Text 42"/>
          <p:cNvSpPr/>
          <p:nvPr/>
        </p:nvSpPr>
        <p:spPr>
          <a:xfrm>
            <a:off x="6334125" y="41910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 Release Anticipation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28172" y="45720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6592094" y="4540250"/>
            <a:ext cx="519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Bollywood Blockbusters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592094" y="479425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Singham Again (100K+), Bhool Bhulaiyaa 3 (50K+), and Do Patti (50K+) show strong anticipation for big releases.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38094" y="5302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503" y="88305"/>
                </a:moveTo>
                <a:cubicBezTo>
                  <a:pt x="16805" y="88956"/>
                  <a:pt x="18293" y="89297"/>
                  <a:pt x="19844" y="89297"/>
                </a:cubicBezTo>
                <a:lnTo>
                  <a:pt x="35564" y="89297"/>
                </a:lnTo>
                <a:cubicBezTo>
                  <a:pt x="38199" y="89297"/>
                  <a:pt x="40711" y="90351"/>
                  <a:pt x="42571" y="92211"/>
                </a:cubicBezTo>
                <a:lnTo>
                  <a:pt x="46695" y="96335"/>
                </a:lnTo>
                <a:cubicBezTo>
                  <a:pt x="48555" y="98196"/>
                  <a:pt x="51067" y="99250"/>
                  <a:pt x="53702" y="99250"/>
                </a:cubicBezTo>
                <a:lnTo>
                  <a:pt x="59500" y="99250"/>
                </a:lnTo>
                <a:cubicBezTo>
                  <a:pt x="64988" y="99250"/>
                  <a:pt x="69422" y="94816"/>
                  <a:pt x="69422" y="89328"/>
                </a:cubicBezTo>
                <a:lnTo>
                  <a:pt x="69422" y="76926"/>
                </a:lnTo>
                <a:cubicBezTo>
                  <a:pt x="69422" y="72802"/>
                  <a:pt x="72740" y="69484"/>
                  <a:pt x="76864" y="69484"/>
                </a:cubicBezTo>
                <a:cubicBezTo>
                  <a:pt x="80987" y="69484"/>
                  <a:pt x="84305" y="66167"/>
                  <a:pt x="84305" y="62043"/>
                </a:cubicBezTo>
                <a:lnTo>
                  <a:pt x="84305" y="48803"/>
                </a:lnTo>
                <a:cubicBezTo>
                  <a:pt x="84305" y="46168"/>
                  <a:pt x="85359" y="43656"/>
                  <a:pt x="87219" y="41796"/>
                </a:cubicBezTo>
                <a:lnTo>
                  <a:pt x="91343" y="37672"/>
                </a:lnTo>
                <a:cubicBezTo>
                  <a:pt x="93204" y="35812"/>
                  <a:pt x="94258" y="33300"/>
                  <a:pt x="94258" y="30665"/>
                </a:cubicBezTo>
                <a:lnTo>
                  <a:pt x="94258" y="17673"/>
                </a:lnTo>
                <a:cubicBezTo>
                  <a:pt x="94258" y="17301"/>
                  <a:pt x="94227" y="16960"/>
                  <a:pt x="94196" y="16588"/>
                </a:cubicBezTo>
                <a:cubicBezTo>
                  <a:pt x="89421" y="15472"/>
                  <a:pt x="84460" y="14883"/>
                  <a:pt x="79375" y="14883"/>
                </a:cubicBezTo>
                <a:cubicBezTo>
                  <a:pt x="43749" y="14883"/>
                  <a:pt x="14883" y="43749"/>
                  <a:pt x="14883" y="79375"/>
                </a:cubicBezTo>
                <a:cubicBezTo>
                  <a:pt x="14883" y="82414"/>
                  <a:pt x="15100" y="85390"/>
                  <a:pt x="15503" y="88305"/>
                </a:cubicBezTo>
                <a:close/>
                <a:moveTo>
                  <a:pt x="140550" y="99870"/>
                </a:moveTo>
                <a:cubicBezTo>
                  <a:pt x="139557" y="99436"/>
                  <a:pt x="138472" y="99219"/>
                  <a:pt x="137294" y="99219"/>
                </a:cubicBezTo>
                <a:lnTo>
                  <a:pt x="133945" y="99219"/>
                </a:lnTo>
                <a:cubicBezTo>
                  <a:pt x="131217" y="99219"/>
                  <a:pt x="128984" y="96986"/>
                  <a:pt x="128984" y="94258"/>
                </a:cubicBezTo>
                <a:cubicBezTo>
                  <a:pt x="128984" y="91529"/>
                  <a:pt x="126752" y="89297"/>
                  <a:pt x="124023" y="89297"/>
                </a:cubicBezTo>
                <a:lnTo>
                  <a:pt x="113264" y="89297"/>
                </a:lnTo>
                <a:cubicBezTo>
                  <a:pt x="110629" y="89297"/>
                  <a:pt x="108117" y="90351"/>
                  <a:pt x="106257" y="92211"/>
                </a:cubicBezTo>
                <a:lnTo>
                  <a:pt x="92211" y="106257"/>
                </a:lnTo>
                <a:cubicBezTo>
                  <a:pt x="90351" y="108117"/>
                  <a:pt x="89297" y="110629"/>
                  <a:pt x="89297" y="113264"/>
                </a:cubicBezTo>
                <a:lnTo>
                  <a:pt x="89297" y="119062"/>
                </a:lnTo>
                <a:cubicBezTo>
                  <a:pt x="89297" y="124551"/>
                  <a:pt x="93731" y="128984"/>
                  <a:pt x="99219" y="128984"/>
                </a:cubicBezTo>
                <a:lnTo>
                  <a:pt x="105017" y="128984"/>
                </a:lnTo>
                <a:cubicBezTo>
                  <a:pt x="107652" y="128984"/>
                  <a:pt x="110164" y="130039"/>
                  <a:pt x="112024" y="131899"/>
                </a:cubicBezTo>
                <a:cubicBezTo>
                  <a:pt x="112706" y="132581"/>
                  <a:pt x="113481" y="133170"/>
                  <a:pt x="114288" y="133604"/>
                </a:cubicBezTo>
                <a:cubicBezTo>
                  <a:pt x="126473" y="125729"/>
                  <a:pt x="135837" y="113885"/>
                  <a:pt x="140519" y="99870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39688" y="114102"/>
                </a:moveTo>
                <a:cubicBezTo>
                  <a:pt x="39688" y="116830"/>
                  <a:pt x="41920" y="119062"/>
                  <a:pt x="44648" y="119062"/>
                </a:cubicBezTo>
                <a:lnTo>
                  <a:pt x="54570" y="119062"/>
                </a:lnTo>
                <a:cubicBezTo>
                  <a:pt x="57299" y="119062"/>
                  <a:pt x="59531" y="116830"/>
                  <a:pt x="59531" y="114102"/>
                </a:cubicBezTo>
                <a:cubicBezTo>
                  <a:pt x="59531" y="111373"/>
                  <a:pt x="57299" y="109141"/>
                  <a:pt x="54570" y="109141"/>
                </a:cubicBezTo>
                <a:lnTo>
                  <a:pt x="44648" y="109141"/>
                </a:lnTo>
                <a:cubicBezTo>
                  <a:pt x="41920" y="109141"/>
                  <a:pt x="39688" y="111373"/>
                  <a:pt x="39688" y="114102"/>
                </a:cubicBezTo>
                <a:close/>
                <a:moveTo>
                  <a:pt x="84336" y="79375"/>
                </a:moveTo>
                <a:cubicBezTo>
                  <a:pt x="81607" y="79375"/>
                  <a:pt x="79375" y="81607"/>
                  <a:pt x="79375" y="84336"/>
                </a:cubicBezTo>
                <a:lnTo>
                  <a:pt x="79375" y="94258"/>
                </a:lnTo>
                <a:cubicBezTo>
                  <a:pt x="79375" y="96986"/>
                  <a:pt x="81607" y="99219"/>
                  <a:pt x="84336" y="99219"/>
                </a:cubicBezTo>
                <a:cubicBezTo>
                  <a:pt x="87064" y="99219"/>
                  <a:pt x="89297" y="96986"/>
                  <a:pt x="89297" y="94258"/>
                </a:cubicBezTo>
                <a:lnTo>
                  <a:pt x="89297" y="84336"/>
                </a:lnTo>
                <a:cubicBezTo>
                  <a:pt x="89297" y="81607"/>
                  <a:pt x="87064" y="79375"/>
                  <a:pt x="84336" y="79375"/>
                </a:cubicBezTo>
                <a:close/>
                <a:moveTo>
                  <a:pt x="99219" y="44648"/>
                </a:moveTo>
                <a:lnTo>
                  <a:pt x="99219" y="54570"/>
                </a:lnTo>
                <a:cubicBezTo>
                  <a:pt x="99219" y="57299"/>
                  <a:pt x="101451" y="59531"/>
                  <a:pt x="104180" y="59531"/>
                </a:cubicBezTo>
                <a:cubicBezTo>
                  <a:pt x="106908" y="59531"/>
                  <a:pt x="109141" y="57299"/>
                  <a:pt x="109141" y="54570"/>
                </a:cubicBezTo>
                <a:lnTo>
                  <a:pt x="109141" y="44648"/>
                </a:lnTo>
                <a:cubicBezTo>
                  <a:pt x="109141" y="41920"/>
                  <a:pt x="106908" y="39688"/>
                  <a:pt x="104180" y="39688"/>
                </a:cubicBezTo>
                <a:cubicBezTo>
                  <a:pt x="101451" y="39688"/>
                  <a:pt x="99219" y="41920"/>
                  <a:pt x="99219" y="446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6599436" y="5270500"/>
            <a:ext cx="5191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South Indian Cinema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599436" y="5524500"/>
            <a:ext cx="5183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Vettaiyan (100K+), Amaran (100K+), and Meiyazhagan (50K+) demonstrate pan-India appeal of South films.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20234" y="60325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9844" y="29766"/>
                </a:moveTo>
                <a:lnTo>
                  <a:pt x="19844" y="104180"/>
                </a:lnTo>
                <a:lnTo>
                  <a:pt x="158750" y="104180"/>
                </a:lnTo>
                <a:lnTo>
                  <a:pt x="158750" y="29766"/>
                </a:lnTo>
                <a:lnTo>
                  <a:pt x="19844" y="29766"/>
                </a:lnTo>
                <a:close/>
                <a:moveTo>
                  <a:pt x="0" y="29766"/>
                </a:moveTo>
                <a:cubicBezTo>
                  <a:pt x="0" y="18821"/>
                  <a:pt x="8899" y="9922"/>
                  <a:pt x="19844" y="9922"/>
                </a:cubicBezTo>
                <a:lnTo>
                  <a:pt x="158750" y="9922"/>
                </a:lnTo>
                <a:cubicBezTo>
                  <a:pt x="169695" y="9922"/>
                  <a:pt x="178594" y="18821"/>
                  <a:pt x="178594" y="29766"/>
                </a:cubicBezTo>
                <a:lnTo>
                  <a:pt x="178594" y="104180"/>
                </a:lnTo>
                <a:cubicBezTo>
                  <a:pt x="178594" y="115125"/>
                  <a:pt x="169695" y="124023"/>
                  <a:pt x="158750" y="124023"/>
                </a:cubicBezTo>
                <a:lnTo>
                  <a:pt x="19844" y="124023"/>
                </a:lnTo>
                <a:cubicBezTo>
                  <a:pt x="8899" y="124023"/>
                  <a:pt x="0" y="115125"/>
                  <a:pt x="0" y="104180"/>
                </a:cubicBezTo>
                <a:lnTo>
                  <a:pt x="0" y="29766"/>
                </a:lnTo>
                <a:close/>
                <a:moveTo>
                  <a:pt x="49609" y="138906"/>
                </a:moveTo>
                <a:lnTo>
                  <a:pt x="128984" y="138906"/>
                </a:lnTo>
                <a:cubicBezTo>
                  <a:pt x="134472" y="138906"/>
                  <a:pt x="138906" y="143340"/>
                  <a:pt x="138906" y="148828"/>
                </a:cubicBezTo>
                <a:cubicBezTo>
                  <a:pt x="138906" y="154316"/>
                  <a:pt x="134472" y="158750"/>
                  <a:pt x="128984" y="158750"/>
                </a:cubicBezTo>
                <a:lnTo>
                  <a:pt x="49609" y="158750"/>
                </a:lnTo>
                <a:cubicBezTo>
                  <a:pt x="44121" y="158750"/>
                  <a:pt x="39688" y="154316"/>
                  <a:pt x="39688" y="148828"/>
                </a:cubicBezTo>
                <a:cubicBezTo>
                  <a:pt x="39688" y="143340"/>
                  <a:pt x="44121" y="138906"/>
                  <a:pt x="49609" y="138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6582668" y="6000750"/>
            <a:ext cx="520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 Platform Growth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582668" y="6254750"/>
            <a:ext cx="5199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JioHotstar (200K+) and OTT release date searches show streaming platform importance in entertainment consumption.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53969" y="67627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45107" y="2170"/>
                </a:moveTo>
                <a:cubicBezTo>
                  <a:pt x="147464" y="4062"/>
                  <a:pt x="148828" y="6914"/>
                  <a:pt x="148828" y="9922"/>
                </a:cubicBezTo>
                <a:lnTo>
                  <a:pt x="148828" y="104180"/>
                </a:lnTo>
                <a:cubicBezTo>
                  <a:pt x="148828" y="117884"/>
                  <a:pt x="135496" y="128984"/>
                  <a:pt x="119062" y="128984"/>
                </a:cubicBezTo>
                <a:cubicBezTo>
                  <a:pt x="102629" y="128984"/>
                  <a:pt x="89297" y="117884"/>
                  <a:pt x="89297" y="104180"/>
                </a:cubicBezTo>
                <a:cubicBezTo>
                  <a:pt x="89297" y="90475"/>
                  <a:pt x="102629" y="79375"/>
                  <a:pt x="119062" y="79375"/>
                </a:cubicBezTo>
                <a:cubicBezTo>
                  <a:pt x="122535" y="79375"/>
                  <a:pt x="125884" y="79871"/>
                  <a:pt x="128984" y="80801"/>
                </a:cubicBezTo>
                <a:lnTo>
                  <a:pt x="128984" y="44617"/>
                </a:lnTo>
                <a:lnTo>
                  <a:pt x="59531" y="60058"/>
                </a:lnTo>
                <a:lnTo>
                  <a:pt x="59531" y="124023"/>
                </a:lnTo>
                <a:cubicBezTo>
                  <a:pt x="59531" y="137728"/>
                  <a:pt x="46199" y="148828"/>
                  <a:pt x="29766" y="148828"/>
                </a:cubicBezTo>
                <a:cubicBezTo>
                  <a:pt x="13333" y="148828"/>
                  <a:pt x="0" y="137728"/>
                  <a:pt x="0" y="124023"/>
                </a:cubicBezTo>
                <a:cubicBezTo>
                  <a:pt x="0" y="110319"/>
                  <a:pt x="13333" y="99219"/>
                  <a:pt x="29766" y="99219"/>
                </a:cubicBezTo>
                <a:cubicBezTo>
                  <a:pt x="33238" y="99219"/>
                  <a:pt x="36587" y="99715"/>
                  <a:pt x="39688" y="100645"/>
                </a:cubicBezTo>
                <a:lnTo>
                  <a:pt x="39688" y="29766"/>
                </a:lnTo>
                <a:cubicBezTo>
                  <a:pt x="39688" y="25115"/>
                  <a:pt x="42912" y="21084"/>
                  <a:pt x="47470" y="20092"/>
                </a:cubicBezTo>
                <a:lnTo>
                  <a:pt x="136767" y="248"/>
                </a:lnTo>
                <a:cubicBezTo>
                  <a:pt x="139712" y="-403"/>
                  <a:pt x="142782" y="310"/>
                  <a:pt x="145138" y="22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6627813" y="6731000"/>
            <a:ext cx="500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Events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627813" y="6985000"/>
            <a:ext cx="499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Diljit Dosanjh concert (50K+) indicates interest in live entertainment and celebrity events.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&amp;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&amp; Digital Services Interest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16000"/>
            <a:ext cx="5699125" cy="1746250"/>
          </a:xfrm>
          <a:custGeom>
            <a:avLst/>
            <a:gdLst/>
            <a:ahLst/>
            <a:cxnLst/>
            <a:rect l="l" t="t" r="r" b="b"/>
            <a:pathLst>
              <a:path w="5699125" h="1746250">
                <a:moveTo>
                  <a:pt x="63494" y="0"/>
                </a:moveTo>
                <a:lnTo>
                  <a:pt x="5635631" y="0"/>
                </a:lnTo>
                <a:cubicBezTo>
                  <a:pt x="5670698" y="0"/>
                  <a:pt x="5699125" y="28427"/>
                  <a:pt x="5699125" y="63494"/>
                </a:cubicBezTo>
                <a:lnTo>
                  <a:pt x="5699125" y="1682756"/>
                </a:lnTo>
                <a:cubicBezTo>
                  <a:pt x="5699125" y="1717823"/>
                  <a:pt x="5670698" y="1746250"/>
                  <a:pt x="5635631" y="1746250"/>
                </a:cubicBezTo>
                <a:lnTo>
                  <a:pt x="63494" y="1746250"/>
                </a:lnTo>
                <a:cubicBezTo>
                  <a:pt x="28427" y="1746250"/>
                  <a:pt x="0" y="1717823"/>
                  <a:pt x="0" y="16827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476250" y="1174750"/>
            <a:ext cx="1912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62203" y="1182587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29766" y="44648"/>
                </a:moveTo>
                <a:cubicBezTo>
                  <a:pt x="29766" y="28231"/>
                  <a:pt x="43114" y="14883"/>
                  <a:pt x="59531" y="14883"/>
                </a:cubicBezTo>
                <a:lnTo>
                  <a:pt x="238125" y="14883"/>
                </a:lnTo>
                <a:cubicBezTo>
                  <a:pt x="254543" y="14883"/>
                  <a:pt x="267891" y="28231"/>
                  <a:pt x="267891" y="44648"/>
                </a:cubicBezTo>
                <a:lnTo>
                  <a:pt x="267891" y="156270"/>
                </a:lnTo>
                <a:lnTo>
                  <a:pt x="238125" y="156270"/>
                </a:lnTo>
                <a:lnTo>
                  <a:pt x="238125" y="44648"/>
                </a:lnTo>
                <a:lnTo>
                  <a:pt x="59531" y="44648"/>
                </a:lnTo>
                <a:lnTo>
                  <a:pt x="59531" y="156270"/>
                </a:lnTo>
                <a:lnTo>
                  <a:pt x="29766" y="156270"/>
                </a:lnTo>
                <a:lnTo>
                  <a:pt x="29766" y="44648"/>
                </a:lnTo>
                <a:close/>
                <a:moveTo>
                  <a:pt x="0" y="187523"/>
                </a:moveTo>
                <a:cubicBezTo>
                  <a:pt x="0" y="182594"/>
                  <a:pt x="4000" y="178594"/>
                  <a:pt x="8930" y="178594"/>
                </a:cubicBezTo>
                <a:lnTo>
                  <a:pt x="288727" y="178594"/>
                </a:lnTo>
                <a:cubicBezTo>
                  <a:pt x="293656" y="178594"/>
                  <a:pt x="297656" y="182594"/>
                  <a:pt x="297656" y="187523"/>
                </a:cubicBezTo>
                <a:cubicBezTo>
                  <a:pt x="297656" y="207243"/>
                  <a:pt x="281657" y="223242"/>
                  <a:pt x="261938" y="223242"/>
                </a:cubicBezTo>
                <a:lnTo>
                  <a:pt x="35719" y="223242"/>
                </a:lnTo>
                <a:cubicBezTo>
                  <a:pt x="15999" y="223242"/>
                  <a:pt x="0" y="207243"/>
                  <a:pt x="0" y="187523"/>
                </a:cubicBezTo>
                <a:close/>
                <a:moveTo>
                  <a:pt x="130690" y="97203"/>
                </a:moveTo>
                <a:lnTo>
                  <a:pt x="116272" y="111621"/>
                </a:lnTo>
                <a:lnTo>
                  <a:pt x="130690" y="126039"/>
                </a:lnTo>
                <a:cubicBezTo>
                  <a:pt x="135062" y="130411"/>
                  <a:pt x="135062" y="137480"/>
                  <a:pt x="130690" y="141805"/>
                </a:cubicBezTo>
                <a:cubicBezTo>
                  <a:pt x="126318" y="146131"/>
                  <a:pt x="119249" y="146177"/>
                  <a:pt x="114923" y="141805"/>
                </a:cubicBezTo>
                <a:lnTo>
                  <a:pt x="92599" y="119481"/>
                </a:lnTo>
                <a:cubicBezTo>
                  <a:pt x="88227" y="115109"/>
                  <a:pt x="88227" y="108040"/>
                  <a:pt x="92599" y="103715"/>
                </a:cubicBezTo>
                <a:lnTo>
                  <a:pt x="114923" y="81390"/>
                </a:lnTo>
                <a:cubicBezTo>
                  <a:pt x="119295" y="77019"/>
                  <a:pt x="126364" y="77019"/>
                  <a:pt x="130690" y="81390"/>
                </a:cubicBezTo>
                <a:cubicBezTo>
                  <a:pt x="135015" y="85762"/>
                  <a:pt x="135062" y="92832"/>
                  <a:pt x="130690" y="97157"/>
                </a:cubicBezTo>
                <a:close/>
                <a:moveTo>
                  <a:pt x="182780" y="81390"/>
                </a:moveTo>
                <a:lnTo>
                  <a:pt x="205104" y="103715"/>
                </a:lnTo>
                <a:cubicBezTo>
                  <a:pt x="209476" y="108086"/>
                  <a:pt x="209476" y="115156"/>
                  <a:pt x="205104" y="119481"/>
                </a:cubicBezTo>
                <a:lnTo>
                  <a:pt x="182780" y="141805"/>
                </a:lnTo>
                <a:cubicBezTo>
                  <a:pt x="178408" y="146177"/>
                  <a:pt x="171338" y="146177"/>
                  <a:pt x="167013" y="141805"/>
                </a:cubicBezTo>
                <a:cubicBezTo>
                  <a:pt x="162688" y="137433"/>
                  <a:pt x="162641" y="130364"/>
                  <a:pt x="167013" y="126039"/>
                </a:cubicBezTo>
                <a:lnTo>
                  <a:pt x="181431" y="111621"/>
                </a:lnTo>
                <a:lnTo>
                  <a:pt x="167013" y="97203"/>
                </a:lnTo>
                <a:cubicBezTo>
                  <a:pt x="162641" y="92832"/>
                  <a:pt x="162641" y="85762"/>
                  <a:pt x="167013" y="81437"/>
                </a:cubicBezTo>
                <a:cubicBezTo>
                  <a:pt x="171385" y="77112"/>
                  <a:pt x="178454" y="77065"/>
                  <a:pt x="182780" y="81437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5"/>
          <p:cNvSpPr/>
          <p:nvPr/>
        </p:nvSpPr>
        <p:spPr>
          <a:xfrm>
            <a:off x="404813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469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40955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738K+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4611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Volume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77196" y="1555649"/>
            <a:ext cx="1849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2.1%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0853" y="1904899"/>
            <a:ext cx="1762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6250" y="2190649"/>
            <a:ext cx="544512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searches span education, fintech, consumer tech, and social media. JEE Mains and fintech platforms show strong engagement.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" y="2889149"/>
            <a:ext cx="5699125" cy="4445000"/>
          </a:xfrm>
          <a:custGeom>
            <a:avLst/>
            <a:gdLst/>
            <a:ahLst/>
            <a:cxnLst/>
            <a:rect l="l" t="t" r="r" b="b"/>
            <a:pathLst>
              <a:path w="5699125" h="4445000">
                <a:moveTo>
                  <a:pt x="63519" y="0"/>
                </a:moveTo>
                <a:lnTo>
                  <a:pt x="5635606" y="0"/>
                </a:lnTo>
                <a:cubicBezTo>
                  <a:pt x="5670687" y="0"/>
                  <a:pt x="5699125" y="28438"/>
                  <a:pt x="5699125" y="63519"/>
                </a:cubicBezTo>
                <a:lnTo>
                  <a:pt x="5699125" y="4381481"/>
                </a:lnTo>
                <a:cubicBezTo>
                  <a:pt x="5699125" y="4416562"/>
                  <a:pt x="5670687" y="4445000"/>
                  <a:pt x="5635606" y="4445000"/>
                </a:cubicBezTo>
                <a:lnTo>
                  <a:pt x="63519" y="4445000"/>
                </a:lnTo>
                <a:cubicBezTo>
                  <a:pt x="28438" y="4445000"/>
                  <a:pt x="0" y="4416562"/>
                  <a:pt x="0" y="4381481"/>
                </a:cubicBezTo>
                <a:lnTo>
                  <a:pt x="0" y="63519"/>
                </a:lnTo>
                <a:cubicBezTo>
                  <a:pt x="0" y="28462"/>
                  <a:pt x="28462" y="0"/>
                  <a:pt x="6351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250" y="3047899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Technology Queries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2125" y="339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17" name="Shape 15"/>
          <p:cNvSpPr/>
          <p:nvPr/>
        </p:nvSpPr>
        <p:spPr>
          <a:xfrm>
            <a:off x="492125" y="339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" y="3492399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JEE Mains 2025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" y="3682899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&amp; exams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87057" y="3540024"/>
            <a:ext cx="674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125" y="4032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2125" y="4032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23" name="Text 21"/>
          <p:cNvSpPr/>
          <p:nvPr/>
        </p:nvSpPr>
        <p:spPr>
          <a:xfrm>
            <a:off x="603250" y="4127399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KFintech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" y="4317899"/>
            <a:ext cx="106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technology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3002" y="4190899"/>
            <a:ext cx="555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200K+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2125" y="466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92125" y="466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03250" y="4762399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Intelligence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3250" y="4952899"/>
            <a:ext cx="1063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technology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22107" y="4825899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2125" y="5302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2125" y="5302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3" name="Text 31"/>
          <p:cNvSpPr/>
          <p:nvPr/>
        </p:nvSpPr>
        <p:spPr>
          <a:xfrm>
            <a:off x="603250" y="5397399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Instagram DMs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250" y="5587899"/>
            <a:ext cx="90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22107" y="5460899"/>
            <a:ext cx="412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20K+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2125" y="5937149"/>
            <a:ext cx="5365750" cy="539750"/>
          </a:xfrm>
          <a:custGeom>
            <a:avLst/>
            <a:gdLst/>
            <a:ahLst/>
            <a:cxnLst/>
            <a:rect l="l" t="t" r="r" b="b"/>
            <a:pathLst>
              <a:path w="5365750" h="539750">
                <a:moveTo>
                  <a:pt x="31748" y="0"/>
                </a:moveTo>
                <a:lnTo>
                  <a:pt x="5334002" y="0"/>
                </a:lnTo>
                <a:cubicBezTo>
                  <a:pt x="5351536" y="0"/>
                  <a:pt x="5365750" y="14214"/>
                  <a:pt x="5365750" y="31748"/>
                </a:cubicBezTo>
                <a:lnTo>
                  <a:pt x="5365750" y="508002"/>
                </a:lnTo>
                <a:cubicBezTo>
                  <a:pt x="5365750" y="525536"/>
                  <a:pt x="5351536" y="539750"/>
                  <a:pt x="53340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5F1EB"/>
          </a:solidFill>
          <a:ln/>
        </p:spPr>
      </p:sp>
      <p:sp>
        <p:nvSpPr>
          <p:cNvPr id="37" name="Shape 35"/>
          <p:cNvSpPr/>
          <p:nvPr/>
        </p:nvSpPr>
        <p:spPr>
          <a:xfrm>
            <a:off x="492125" y="5937149"/>
            <a:ext cx="31750" cy="539750"/>
          </a:xfrm>
          <a:custGeom>
            <a:avLst/>
            <a:gdLst/>
            <a:ahLst/>
            <a:cxnLst/>
            <a:rect l="l" t="t" r="r" b="b"/>
            <a:pathLst>
              <a:path w="31750" h="539750">
                <a:moveTo>
                  <a:pt x="31750" y="0"/>
                </a:moveTo>
                <a:lnTo>
                  <a:pt x="31750" y="0"/>
                </a:lnTo>
                <a:lnTo>
                  <a:pt x="31750" y="539750"/>
                </a:lnTo>
                <a:lnTo>
                  <a:pt x="31750" y="539750"/>
                </a:lnTo>
                <a:cubicBezTo>
                  <a:pt x="14227" y="539750"/>
                  <a:pt x="0" y="525523"/>
                  <a:pt x="0" y="508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603250" y="6032399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Mini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250" y="6222899"/>
            <a:ext cx="801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D2D2D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 tech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448002" y="6095899"/>
            <a:ext cx="388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10K+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5375" y="1016000"/>
            <a:ext cx="5699125" cy="2889250"/>
          </a:xfrm>
          <a:custGeom>
            <a:avLst/>
            <a:gdLst/>
            <a:ahLst/>
            <a:cxnLst/>
            <a:rect l="l" t="t" r="r" b="b"/>
            <a:pathLst>
              <a:path w="5699125" h="2889250">
                <a:moveTo>
                  <a:pt x="63506" y="0"/>
                </a:moveTo>
                <a:lnTo>
                  <a:pt x="5635619" y="0"/>
                </a:lnTo>
                <a:cubicBezTo>
                  <a:pt x="5670693" y="0"/>
                  <a:pt x="5699125" y="28432"/>
                  <a:pt x="5699125" y="63506"/>
                </a:cubicBezTo>
                <a:lnTo>
                  <a:pt x="5699125" y="2825744"/>
                </a:lnTo>
                <a:cubicBezTo>
                  <a:pt x="5699125" y="2860818"/>
                  <a:pt x="5670693" y="2889250"/>
                  <a:pt x="5635619" y="2889250"/>
                </a:cubicBezTo>
                <a:lnTo>
                  <a:pt x="63506" y="2889250"/>
                </a:lnTo>
                <a:cubicBezTo>
                  <a:pt x="28432" y="2889250"/>
                  <a:pt x="0" y="2860818"/>
                  <a:pt x="0" y="28257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34125" y="117475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Categories</a:t>
            </a:r>
            <a:endParaRPr lang="en-US" sz="1600" dirty="0"/>
          </a:p>
        </p:txBody>
      </p:sp>
      <p:pic>
        <p:nvPicPr>
          <p:cNvPr id="43" name="Image 0" descr="https://kimi-img.moonshot.cn/pub/slides/26-02-28-04:20:56-d6gvpa7pma9n9o0vjlh0.png">    </p:cNvPr>
          <p:cNvPicPr>
            <a:picLocks noChangeAspect="1"/>
          </p:cNvPicPr>
          <p:nvPr/>
        </p:nvPicPr>
        <p:blipFill>
          <a:blip r:embed="rId1"/>
          <a:srcRect l="0" r="0" t="36" b="36"/>
          <a:stretch/>
        </p:blipFill>
        <p:spPr>
          <a:xfrm>
            <a:off x="6334125" y="1524000"/>
            <a:ext cx="4365625" cy="2222500"/>
          </a:xfrm>
          <a:prstGeom prst="roundRect">
            <a:avLst>
              <a:gd name="adj" fmla="val 0"/>
            </a:avLst>
          </a:prstGeom>
        </p:spPr>
      </p:pic>
      <p:sp>
        <p:nvSpPr>
          <p:cNvPr id="44" name="Shape 41"/>
          <p:cNvSpPr/>
          <p:nvPr/>
        </p:nvSpPr>
        <p:spPr>
          <a:xfrm>
            <a:off x="6175375" y="4032250"/>
            <a:ext cx="5699125" cy="3302000"/>
          </a:xfrm>
          <a:custGeom>
            <a:avLst/>
            <a:gdLst/>
            <a:ahLst/>
            <a:cxnLst/>
            <a:rect l="l" t="t" r="r" b="b"/>
            <a:pathLst>
              <a:path w="5699125" h="3302000">
                <a:moveTo>
                  <a:pt x="63497" y="0"/>
                </a:moveTo>
                <a:lnTo>
                  <a:pt x="5635628" y="0"/>
                </a:lnTo>
                <a:cubicBezTo>
                  <a:pt x="5670696" y="0"/>
                  <a:pt x="5699125" y="28429"/>
                  <a:pt x="5699125" y="63497"/>
                </a:cubicBezTo>
                <a:lnTo>
                  <a:pt x="5699125" y="3238503"/>
                </a:lnTo>
                <a:cubicBezTo>
                  <a:pt x="5699125" y="3273571"/>
                  <a:pt x="5670696" y="3302000"/>
                  <a:pt x="5635628" y="3302000"/>
                </a:cubicBezTo>
                <a:lnTo>
                  <a:pt x="63497" y="3302000"/>
                </a:lnTo>
                <a:cubicBezTo>
                  <a:pt x="28429" y="3302000"/>
                  <a:pt x="0" y="3273571"/>
                  <a:pt x="0" y="32385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45" name="Text 42"/>
          <p:cNvSpPr/>
          <p:nvPr/>
        </p:nvSpPr>
        <p:spPr>
          <a:xfrm>
            <a:off x="6334125" y="4191000"/>
            <a:ext cx="546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Search Insights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36109" y="45720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883" y="60709"/>
                </a:moveTo>
                <a:lnTo>
                  <a:pt x="79747" y="87406"/>
                </a:lnTo>
                <a:cubicBezTo>
                  <a:pt x="82786" y="88646"/>
                  <a:pt x="86010" y="89297"/>
                  <a:pt x="89297" y="89297"/>
                </a:cubicBezTo>
                <a:cubicBezTo>
                  <a:pt x="92583" y="89297"/>
                  <a:pt x="95808" y="88646"/>
                  <a:pt x="98847" y="87406"/>
                </a:cubicBezTo>
                <a:lnTo>
                  <a:pt x="174005" y="56462"/>
                </a:lnTo>
                <a:cubicBezTo>
                  <a:pt x="176795" y="55314"/>
                  <a:pt x="178594" y="52617"/>
                  <a:pt x="178594" y="49609"/>
                </a:cubicBezTo>
                <a:cubicBezTo>
                  <a:pt x="178594" y="46602"/>
                  <a:pt x="176795" y="43904"/>
                  <a:pt x="174005" y="42757"/>
                </a:cubicBezTo>
                <a:lnTo>
                  <a:pt x="98847" y="11813"/>
                </a:lnTo>
                <a:cubicBezTo>
                  <a:pt x="95808" y="10573"/>
                  <a:pt x="92583" y="9922"/>
                  <a:pt x="89297" y="9922"/>
                </a:cubicBezTo>
                <a:cubicBezTo>
                  <a:pt x="86010" y="9922"/>
                  <a:pt x="82786" y="10573"/>
                  <a:pt x="79747" y="11813"/>
                </a:cubicBezTo>
                <a:lnTo>
                  <a:pt x="4589" y="42757"/>
                </a:lnTo>
                <a:cubicBezTo>
                  <a:pt x="1798" y="43904"/>
                  <a:pt x="0" y="46602"/>
                  <a:pt x="0" y="49609"/>
                </a:cubicBezTo>
                <a:lnTo>
                  <a:pt x="0" y="141387"/>
                </a:lnTo>
                <a:cubicBezTo>
                  <a:pt x="0" y="145510"/>
                  <a:pt x="3318" y="148828"/>
                  <a:pt x="7441" y="148828"/>
                </a:cubicBezTo>
                <a:cubicBezTo>
                  <a:pt x="11565" y="148828"/>
                  <a:pt x="14883" y="145510"/>
                  <a:pt x="14883" y="141387"/>
                </a:cubicBezTo>
                <a:lnTo>
                  <a:pt x="14883" y="60709"/>
                </a:lnTo>
                <a:close/>
                <a:moveTo>
                  <a:pt x="29766" y="82941"/>
                </a:moveTo>
                <a:lnTo>
                  <a:pt x="29766" y="119062"/>
                </a:lnTo>
                <a:cubicBezTo>
                  <a:pt x="29766" y="135496"/>
                  <a:pt x="56431" y="148828"/>
                  <a:pt x="89297" y="148828"/>
                </a:cubicBezTo>
                <a:cubicBezTo>
                  <a:pt x="122163" y="148828"/>
                  <a:pt x="148828" y="135496"/>
                  <a:pt x="148828" y="119062"/>
                </a:cubicBezTo>
                <a:lnTo>
                  <a:pt x="148828" y="82910"/>
                </a:lnTo>
                <a:lnTo>
                  <a:pt x="104521" y="101172"/>
                </a:lnTo>
                <a:cubicBezTo>
                  <a:pt x="99684" y="103156"/>
                  <a:pt x="94537" y="104180"/>
                  <a:pt x="89297" y="104180"/>
                </a:cubicBezTo>
                <a:cubicBezTo>
                  <a:pt x="84057" y="104180"/>
                  <a:pt x="78910" y="103156"/>
                  <a:pt x="74073" y="101172"/>
                </a:cubicBezTo>
                <a:lnTo>
                  <a:pt x="29766" y="8291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6609358" y="4540250"/>
            <a:ext cx="5175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 Technology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609358" y="4794250"/>
            <a:ext cx="51673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JEE Mains 2025 (200K+) shows education-tech intersection with exam-related searches dominating.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50000" y="530225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39688"/>
                </a:moveTo>
                <a:lnTo>
                  <a:pt x="0" y="49609"/>
                </a:lnTo>
                <a:lnTo>
                  <a:pt x="158750" y="49609"/>
                </a:lnTo>
                <a:lnTo>
                  <a:pt x="158750" y="39688"/>
                </a:lnTo>
                <a:cubicBezTo>
                  <a:pt x="158750" y="28742"/>
                  <a:pt x="149851" y="19844"/>
                  <a:pt x="138906" y="19844"/>
                </a:cubicBezTo>
                <a:lnTo>
                  <a:pt x="19844" y="19844"/>
                </a:lnTo>
                <a:cubicBezTo>
                  <a:pt x="8899" y="19844"/>
                  <a:pt x="0" y="28742"/>
                  <a:pt x="0" y="39688"/>
                </a:cubicBezTo>
                <a:close/>
                <a:moveTo>
                  <a:pt x="0" y="64492"/>
                </a:moveTo>
                <a:lnTo>
                  <a:pt x="0" y="119062"/>
                </a:lnTo>
                <a:cubicBezTo>
                  <a:pt x="0" y="130008"/>
                  <a:pt x="8899" y="138906"/>
                  <a:pt x="19844" y="138906"/>
                </a:cubicBezTo>
                <a:lnTo>
                  <a:pt x="138906" y="138906"/>
                </a:lnTo>
                <a:cubicBezTo>
                  <a:pt x="149851" y="138906"/>
                  <a:pt x="158750" y="130008"/>
                  <a:pt x="158750" y="119062"/>
                </a:cubicBezTo>
                <a:lnTo>
                  <a:pt x="158750" y="64492"/>
                </a:lnTo>
                <a:lnTo>
                  <a:pt x="0" y="64492"/>
                </a:lnTo>
                <a:close/>
                <a:moveTo>
                  <a:pt x="19844" y="111621"/>
                </a:moveTo>
                <a:cubicBezTo>
                  <a:pt x="19844" y="107497"/>
                  <a:pt x="23161" y="104180"/>
                  <a:pt x="27285" y="104180"/>
                </a:cubicBezTo>
                <a:lnTo>
                  <a:pt x="42168" y="104180"/>
                </a:lnTo>
                <a:cubicBezTo>
                  <a:pt x="46292" y="104180"/>
                  <a:pt x="49609" y="107497"/>
                  <a:pt x="49609" y="111621"/>
                </a:cubicBezTo>
                <a:cubicBezTo>
                  <a:pt x="49609" y="115745"/>
                  <a:pt x="46292" y="119062"/>
                  <a:pt x="42168" y="119062"/>
                </a:cubicBezTo>
                <a:lnTo>
                  <a:pt x="27285" y="119062"/>
                </a:lnTo>
                <a:cubicBezTo>
                  <a:pt x="23161" y="119062"/>
                  <a:pt x="19844" y="115745"/>
                  <a:pt x="19844" y="111621"/>
                </a:cubicBezTo>
                <a:close/>
                <a:moveTo>
                  <a:pt x="64492" y="111621"/>
                </a:moveTo>
                <a:cubicBezTo>
                  <a:pt x="64492" y="107497"/>
                  <a:pt x="67810" y="104180"/>
                  <a:pt x="71934" y="104180"/>
                </a:cubicBezTo>
                <a:lnTo>
                  <a:pt x="91777" y="104180"/>
                </a:lnTo>
                <a:cubicBezTo>
                  <a:pt x="95901" y="104180"/>
                  <a:pt x="99219" y="107497"/>
                  <a:pt x="99219" y="111621"/>
                </a:cubicBezTo>
                <a:cubicBezTo>
                  <a:pt x="99219" y="115745"/>
                  <a:pt x="95901" y="119062"/>
                  <a:pt x="91777" y="119062"/>
                </a:cubicBezTo>
                <a:lnTo>
                  <a:pt x="71934" y="119062"/>
                </a:lnTo>
                <a:cubicBezTo>
                  <a:pt x="67810" y="119062"/>
                  <a:pt x="64492" y="115745"/>
                  <a:pt x="64492" y="1116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7"/>
          <p:cNvSpPr/>
          <p:nvPr/>
        </p:nvSpPr>
        <p:spPr>
          <a:xfrm>
            <a:off x="6622157" y="5270500"/>
            <a:ext cx="516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Growth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622157" y="5524500"/>
            <a:ext cx="515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KFintech (200K+) and financial technology platforms show increasing digital finance adoption.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353969" y="6032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6626225" y="6000750"/>
            <a:ext cx="515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Interest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626225" y="6254750"/>
            <a:ext cx="5151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Apple Intelligence (20K+) indicates growing curiosity about AI features in consumer devices.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73813" y="67627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4961" y="19844"/>
                </a:moveTo>
                <a:cubicBezTo>
                  <a:pt x="4961" y="8899"/>
                  <a:pt x="13860" y="0"/>
                  <a:pt x="24805" y="0"/>
                </a:cubicBezTo>
                <a:lnTo>
                  <a:pt x="94258" y="0"/>
                </a:lnTo>
                <a:cubicBezTo>
                  <a:pt x="105203" y="0"/>
                  <a:pt x="114102" y="8899"/>
                  <a:pt x="114102" y="19844"/>
                </a:cubicBezTo>
                <a:lnTo>
                  <a:pt x="114102" y="138906"/>
                </a:lnTo>
                <a:cubicBezTo>
                  <a:pt x="114102" y="149851"/>
                  <a:pt x="105203" y="158750"/>
                  <a:pt x="94258" y="158750"/>
                </a:cubicBezTo>
                <a:lnTo>
                  <a:pt x="24805" y="158750"/>
                </a:lnTo>
                <a:cubicBezTo>
                  <a:pt x="13860" y="158750"/>
                  <a:pt x="4961" y="149851"/>
                  <a:pt x="4961" y="138906"/>
                </a:cubicBezTo>
                <a:lnTo>
                  <a:pt x="4961" y="19844"/>
                </a:lnTo>
                <a:close/>
                <a:moveTo>
                  <a:pt x="24805" y="19844"/>
                </a:moveTo>
                <a:lnTo>
                  <a:pt x="24805" y="114102"/>
                </a:lnTo>
                <a:lnTo>
                  <a:pt x="94258" y="114102"/>
                </a:lnTo>
                <a:lnTo>
                  <a:pt x="94258" y="19844"/>
                </a:lnTo>
                <a:lnTo>
                  <a:pt x="24805" y="19844"/>
                </a:lnTo>
                <a:close/>
                <a:moveTo>
                  <a:pt x="59531" y="146348"/>
                </a:moveTo>
                <a:cubicBezTo>
                  <a:pt x="65019" y="146348"/>
                  <a:pt x="69453" y="141914"/>
                  <a:pt x="69453" y="136426"/>
                </a:cubicBezTo>
                <a:cubicBezTo>
                  <a:pt x="69453" y="130938"/>
                  <a:pt x="65019" y="126504"/>
                  <a:pt x="59531" y="126504"/>
                </a:cubicBezTo>
                <a:cubicBezTo>
                  <a:pt x="54043" y="126504"/>
                  <a:pt x="49609" y="130938"/>
                  <a:pt x="49609" y="136426"/>
                </a:cubicBezTo>
                <a:cubicBezTo>
                  <a:pt x="49609" y="141914"/>
                  <a:pt x="54043" y="146348"/>
                  <a:pt x="59531" y="14634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6627813" y="6731000"/>
            <a:ext cx="5040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627813" y="6985000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Instagram DMs (20K+) and social platform searches reflect digital communication trends.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techinasia.com/e4cc5e16a815e2db94fb57ca3473cfc3ac65b956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2500" b="125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8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1552575"/>
            <a:ext cx="45053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3000375"/>
            <a:ext cx="41814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4657725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5000625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Takeaways from Search Data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50" kern="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IMPLICATIONS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Critical Insights from India's Search Behavior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31875"/>
            <a:ext cx="5715000" cy="1555750"/>
          </a:xfrm>
          <a:custGeom>
            <a:avLst/>
            <a:gdLst/>
            <a:ahLst/>
            <a:cxnLst/>
            <a:rect l="l" t="t" r="r" b="b"/>
            <a:pathLst>
              <a:path w="5715000" h="1555750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1492244"/>
                </a:lnTo>
                <a:cubicBezTo>
                  <a:pt x="5715000" y="1527318"/>
                  <a:pt x="5686568" y="1555750"/>
                  <a:pt x="5651494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17500" y="1031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206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28625" y="1206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7750" y="1206500"/>
            <a:ext cx="490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 Dominance is Unprecedented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7750" y="1492250"/>
            <a:ext cx="4889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Cricket commands 13.5M+ searches (37.5% of total volume), with international matches driving 5M+ peak queries. Sports content and real-time updates present massive engagement opportunities.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7750" y="2206625"/>
            <a:ext cx="1031875" cy="222250"/>
          </a:xfrm>
          <a:custGeom>
            <a:avLst/>
            <a:gdLst/>
            <a:ahLst/>
            <a:cxnLst/>
            <a:rect l="l" t="t" r="r" b="b"/>
            <a:pathLst>
              <a:path w="1031875" h="222250">
                <a:moveTo>
                  <a:pt x="31751" y="0"/>
                </a:moveTo>
                <a:lnTo>
                  <a:pt x="1000124" y="0"/>
                </a:lnTo>
                <a:cubicBezTo>
                  <a:pt x="1017660" y="0"/>
                  <a:pt x="1031875" y="14215"/>
                  <a:pt x="1031875" y="31751"/>
                </a:cubicBezTo>
                <a:lnTo>
                  <a:pt x="1031875" y="190499"/>
                </a:lnTo>
                <a:cubicBezTo>
                  <a:pt x="1031875" y="208035"/>
                  <a:pt x="1017660" y="222250"/>
                  <a:pt x="1000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2206625"/>
            <a:ext cx="108743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13.5M+ Searches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40446" y="2206625"/>
            <a:ext cx="793750" cy="222250"/>
          </a:xfrm>
          <a:custGeom>
            <a:avLst/>
            <a:gdLst/>
            <a:ahLst/>
            <a:cxnLst/>
            <a:rect l="l" t="t" r="r" b="b"/>
            <a:pathLst>
              <a:path w="793750" h="222250">
                <a:moveTo>
                  <a:pt x="31751" y="0"/>
                </a:moveTo>
                <a:lnTo>
                  <a:pt x="761999" y="0"/>
                </a:lnTo>
                <a:cubicBezTo>
                  <a:pt x="779535" y="0"/>
                  <a:pt x="793750" y="14215"/>
                  <a:pt x="793750" y="31751"/>
                </a:cubicBezTo>
                <a:lnTo>
                  <a:pt x="793750" y="190499"/>
                </a:lnTo>
                <a:cubicBezTo>
                  <a:pt x="793750" y="208035"/>
                  <a:pt x="779535" y="222250"/>
                  <a:pt x="7619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140446" y="2206625"/>
            <a:ext cx="8493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37.5% Share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59500" y="1031875"/>
            <a:ext cx="5715000" cy="1555750"/>
          </a:xfrm>
          <a:custGeom>
            <a:avLst/>
            <a:gdLst/>
            <a:ahLst/>
            <a:cxnLst/>
            <a:rect l="l" t="t" r="r" b="b"/>
            <a:pathLst>
              <a:path w="5715000" h="1555750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1492244"/>
                </a:lnTo>
                <a:cubicBezTo>
                  <a:pt x="5715000" y="1527318"/>
                  <a:pt x="5686568" y="1555750"/>
                  <a:pt x="5651494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9500" y="103187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6318250" y="1206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0625" y="120650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89750" y="1206500"/>
            <a:ext cx="490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Festival Season Drives Cultural Commerce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89750" y="1492250"/>
            <a:ext cx="4889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Diwali generates 2.6M+ searches with Dhanteras timing (1M+) leading. Cultural events create search spikes that align with shopping, investment, and celebration planning.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89750" y="2000250"/>
            <a:ext cx="984250" cy="222250"/>
          </a:xfrm>
          <a:custGeom>
            <a:avLst/>
            <a:gdLst/>
            <a:ahLst/>
            <a:cxnLst/>
            <a:rect l="l" t="t" r="r" b="b"/>
            <a:pathLst>
              <a:path w="984250" h="222250">
                <a:moveTo>
                  <a:pt x="31751" y="0"/>
                </a:moveTo>
                <a:lnTo>
                  <a:pt x="952499" y="0"/>
                </a:lnTo>
                <a:cubicBezTo>
                  <a:pt x="970035" y="0"/>
                  <a:pt x="984250" y="14215"/>
                  <a:pt x="984250" y="31751"/>
                </a:cubicBezTo>
                <a:lnTo>
                  <a:pt x="984250" y="190499"/>
                </a:lnTo>
                <a:cubicBezTo>
                  <a:pt x="984250" y="208035"/>
                  <a:pt x="970035" y="222250"/>
                  <a:pt x="9524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89750" y="2000250"/>
            <a:ext cx="1039812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2.6M+ Searches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39484" y="2000250"/>
            <a:ext cx="730250" cy="222250"/>
          </a:xfrm>
          <a:custGeom>
            <a:avLst/>
            <a:gdLst/>
            <a:ahLst/>
            <a:cxnLst/>
            <a:rect l="l" t="t" r="r" b="b"/>
            <a:pathLst>
              <a:path w="730250" h="222250">
                <a:moveTo>
                  <a:pt x="31751" y="0"/>
                </a:moveTo>
                <a:lnTo>
                  <a:pt x="698499" y="0"/>
                </a:lnTo>
                <a:cubicBezTo>
                  <a:pt x="716035" y="0"/>
                  <a:pt x="730250" y="14215"/>
                  <a:pt x="730250" y="31751"/>
                </a:cubicBezTo>
                <a:lnTo>
                  <a:pt x="730250" y="190499"/>
                </a:lnTo>
                <a:cubicBezTo>
                  <a:pt x="730250" y="208035"/>
                  <a:pt x="716035" y="222250"/>
                  <a:pt x="6984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39484" y="2000250"/>
            <a:ext cx="7858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7.2% Share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2730500"/>
            <a:ext cx="5715000" cy="1555750"/>
          </a:xfrm>
          <a:custGeom>
            <a:avLst/>
            <a:gdLst/>
            <a:ahLst/>
            <a:cxnLst/>
            <a:rect l="l" t="t" r="r" b="b"/>
            <a:pathLst>
              <a:path w="5715000" h="1555750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1492244"/>
                </a:lnTo>
                <a:cubicBezTo>
                  <a:pt x="5715000" y="1527318"/>
                  <a:pt x="5686568" y="1555750"/>
                  <a:pt x="5651494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500" y="2730500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6250" y="2905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28625" y="2905125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7750" y="2905125"/>
            <a:ext cx="490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IPO Frenzy Signals Retail Investor Boom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47750" y="3190875"/>
            <a:ext cx="4889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Waaree Energies IPO alone generated 2M+ searches, indicating massive retail participation. Financial literacy and investment interest are at all-time highs among Indian internet users.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47750" y="3905250"/>
            <a:ext cx="912813" cy="222250"/>
          </a:xfrm>
          <a:custGeom>
            <a:avLst/>
            <a:gdLst/>
            <a:ahLst/>
            <a:cxnLst/>
            <a:rect l="l" t="t" r="r" b="b"/>
            <a:pathLst>
              <a:path w="912813" h="222250">
                <a:moveTo>
                  <a:pt x="31751" y="0"/>
                </a:moveTo>
                <a:lnTo>
                  <a:pt x="881062" y="0"/>
                </a:lnTo>
                <a:cubicBezTo>
                  <a:pt x="898597" y="0"/>
                  <a:pt x="912813" y="14215"/>
                  <a:pt x="912813" y="31751"/>
                </a:cubicBezTo>
                <a:lnTo>
                  <a:pt x="912813" y="190499"/>
                </a:lnTo>
                <a:cubicBezTo>
                  <a:pt x="912813" y="208035"/>
                  <a:pt x="898597" y="222250"/>
                  <a:pt x="881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047750" y="3905250"/>
            <a:ext cx="968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4.3M+ Finance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027535" y="3905250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31751" y="0"/>
                </a:moveTo>
                <a:lnTo>
                  <a:pt x="587374" y="0"/>
                </a:lnTo>
                <a:cubicBezTo>
                  <a:pt x="604910" y="0"/>
                  <a:pt x="619125" y="14215"/>
                  <a:pt x="619125" y="31751"/>
                </a:cubicBezTo>
                <a:lnTo>
                  <a:pt x="619125" y="190499"/>
                </a:lnTo>
                <a:cubicBezTo>
                  <a:pt x="619125" y="208035"/>
                  <a:pt x="604910" y="222250"/>
                  <a:pt x="587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027535" y="3905250"/>
            <a:ext cx="674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2M+ IPO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59500" y="2730500"/>
            <a:ext cx="5715000" cy="1555750"/>
          </a:xfrm>
          <a:custGeom>
            <a:avLst/>
            <a:gdLst/>
            <a:ahLst/>
            <a:cxnLst/>
            <a:rect l="l" t="t" r="r" b="b"/>
            <a:pathLst>
              <a:path w="5715000" h="1555750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1492244"/>
                </a:lnTo>
                <a:cubicBezTo>
                  <a:pt x="5715000" y="1527318"/>
                  <a:pt x="5686568" y="1555750"/>
                  <a:pt x="5651494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59500" y="2730500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18250" y="2905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37" name="Text 35"/>
          <p:cNvSpPr/>
          <p:nvPr/>
        </p:nvSpPr>
        <p:spPr>
          <a:xfrm>
            <a:off x="6270625" y="2905125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89750" y="2905125"/>
            <a:ext cx="490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Mobile-First Search Behavior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9750" y="3190875"/>
            <a:ext cx="4889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Quick, immediate queries dominate with 1,172 long-tail searches (under 10K). Indians search on-the-go for real-time information, scores, prices, and updates.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89750" y="3698875"/>
            <a:ext cx="857250" cy="222250"/>
          </a:xfrm>
          <a:custGeom>
            <a:avLst/>
            <a:gdLst/>
            <a:ahLst/>
            <a:cxnLst/>
            <a:rect l="l" t="t" r="r" b="b"/>
            <a:pathLst>
              <a:path w="857250" h="222250">
                <a:moveTo>
                  <a:pt x="31751" y="0"/>
                </a:moveTo>
                <a:lnTo>
                  <a:pt x="825499" y="0"/>
                </a:lnTo>
                <a:cubicBezTo>
                  <a:pt x="843035" y="0"/>
                  <a:pt x="857250" y="14215"/>
                  <a:pt x="857250" y="31751"/>
                </a:cubicBezTo>
                <a:lnTo>
                  <a:pt x="857250" y="190499"/>
                </a:lnTo>
                <a:cubicBezTo>
                  <a:pt x="857250" y="208035"/>
                  <a:pt x="843035" y="222250"/>
                  <a:pt x="82549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889750" y="3698875"/>
            <a:ext cx="91281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81% Long Tail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813973" y="3698875"/>
            <a:ext cx="873125" cy="222250"/>
          </a:xfrm>
          <a:custGeom>
            <a:avLst/>
            <a:gdLst/>
            <a:ahLst/>
            <a:cxnLst/>
            <a:rect l="l" t="t" r="r" b="b"/>
            <a:pathLst>
              <a:path w="873125" h="222250">
                <a:moveTo>
                  <a:pt x="31751" y="0"/>
                </a:moveTo>
                <a:lnTo>
                  <a:pt x="841374" y="0"/>
                </a:lnTo>
                <a:cubicBezTo>
                  <a:pt x="858910" y="0"/>
                  <a:pt x="873125" y="14215"/>
                  <a:pt x="873125" y="31751"/>
                </a:cubicBezTo>
                <a:lnTo>
                  <a:pt x="873125" y="190499"/>
                </a:lnTo>
                <a:cubicBezTo>
                  <a:pt x="873125" y="208035"/>
                  <a:pt x="858910" y="222250"/>
                  <a:pt x="841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813973" y="3698875"/>
            <a:ext cx="928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Queries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17500" y="4429125"/>
            <a:ext cx="5715000" cy="1555750"/>
          </a:xfrm>
          <a:custGeom>
            <a:avLst/>
            <a:gdLst/>
            <a:ahLst/>
            <a:cxnLst/>
            <a:rect l="l" t="t" r="r" b="b"/>
            <a:pathLst>
              <a:path w="5715000" h="1555750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1492244"/>
                </a:lnTo>
                <a:cubicBezTo>
                  <a:pt x="5715000" y="1527318"/>
                  <a:pt x="5686568" y="1555750"/>
                  <a:pt x="5651494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17500" y="442912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476250" y="4603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428625" y="460375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47750" y="4603750"/>
            <a:ext cx="490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Language Search Growth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47750" y="4889500"/>
            <a:ext cx="48895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Hindi queries (Dhanteras, Lakshmi Ji Ki Aarti) and regional festivals (Chhath Puja) show strong linguistic diversity. Vernacular search is growing rapidly.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47750" y="5397500"/>
            <a:ext cx="849313" cy="222250"/>
          </a:xfrm>
          <a:custGeom>
            <a:avLst/>
            <a:gdLst/>
            <a:ahLst/>
            <a:cxnLst/>
            <a:rect l="l" t="t" r="r" b="b"/>
            <a:pathLst>
              <a:path w="849313" h="222250">
                <a:moveTo>
                  <a:pt x="31751" y="0"/>
                </a:moveTo>
                <a:lnTo>
                  <a:pt x="817562" y="0"/>
                </a:lnTo>
                <a:cubicBezTo>
                  <a:pt x="835097" y="0"/>
                  <a:pt x="849313" y="14215"/>
                  <a:pt x="849313" y="31751"/>
                </a:cubicBezTo>
                <a:lnTo>
                  <a:pt x="849313" y="190499"/>
                </a:lnTo>
                <a:cubicBezTo>
                  <a:pt x="849313" y="208035"/>
                  <a:pt x="835097" y="222250"/>
                  <a:pt x="817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47750" y="5397500"/>
            <a:ext cx="9048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Hindi Queries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962845" y="5397500"/>
            <a:ext cx="1071563" cy="222250"/>
          </a:xfrm>
          <a:custGeom>
            <a:avLst/>
            <a:gdLst/>
            <a:ahLst/>
            <a:cxnLst/>
            <a:rect l="l" t="t" r="r" b="b"/>
            <a:pathLst>
              <a:path w="1071563" h="222250">
                <a:moveTo>
                  <a:pt x="31751" y="0"/>
                </a:moveTo>
                <a:lnTo>
                  <a:pt x="1039812" y="0"/>
                </a:lnTo>
                <a:cubicBezTo>
                  <a:pt x="1057347" y="0"/>
                  <a:pt x="1071563" y="14215"/>
                  <a:pt x="1071563" y="31751"/>
                </a:cubicBezTo>
                <a:lnTo>
                  <a:pt x="1071563" y="190499"/>
                </a:lnTo>
                <a:cubicBezTo>
                  <a:pt x="1071563" y="208035"/>
                  <a:pt x="1057347" y="222250"/>
                  <a:pt x="103981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962845" y="5397500"/>
            <a:ext cx="11271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Festivals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59500" y="4429125"/>
            <a:ext cx="5715000" cy="1555750"/>
          </a:xfrm>
          <a:custGeom>
            <a:avLst/>
            <a:gdLst/>
            <a:ahLst/>
            <a:cxnLst/>
            <a:rect l="l" t="t" r="r" b="b"/>
            <a:pathLst>
              <a:path w="5715000" h="1555750">
                <a:moveTo>
                  <a:pt x="31750" y="0"/>
                </a:moveTo>
                <a:lnTo>
                  <a:pt x="5683250" y="0"/>
                </a:lnTo>
                <a:cubicBezTo>
                  <a:pt x="5700785" y="0"/>
                  <a:pt x="5715000" y="14215"/>
                  <a:pt x="5715000" y="31750"/>
                </a:cubicBezTo>
                <a:lnTo>
                  <a:pt x="5715000" y="1492244"/>
                </a:lnTo>
                <a:cubicBezTo>
                  <a:pt x="5715000" y="1527318"/>
                  <a:pt x="5686568" y="1555750"/>
                  <a:pt x="5651494" y="1555750"/>
                </a:cubicBezTo>
                <a:lnTo>
                  <a:pt x="63506" y="1555750"/>
                </a:lnTo>
                <a:cubicBezTo>
                  <a:pt x="28432" y="1555750"/>
                  <a:pt x="0" y="1527318"/>
                  <a:pt x="0" y="1492244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47625" dist="31750" dir="540000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59500" y="4429125"/>
            <a:ext cx="5715000" cy="31750"/>
          </a:xfrm>
          <a:custGeom>
            <a:avLst/>
            <a:gdLst/>
            <a:ahLst/>
            <a:cxnLst/>
            <a:rect l="l" t="t" r="r" b="b"/>
            <a:pathLst>
              <a:path w="5715000" h="31750">
                <a:moveTo>
                  <a:pt x="31750" y="0"/>
                </a:moveTo>
                <a:lnTo>
                  <a:pt x="5683250" y="0"/>
                </a:lnTo>
                <a:cubicBezTo>
                  <a:pt x="5700773" y="0"/>
                  <a:pt x="5715000" y="14227"/>
                  <a:pt x="5715000" y="31750"/>
                </a:cubicBezTo>
                <a:lnTo>
                  <a:pt x="5715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6" name="Shape 54"/>
          <p:cNvSpPr/>
          <p:nvPr/>
        </p:nvSpPr>
        <p:spPr>
          <a:xfrm>
            <a:off x="6318250" y="460375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7" name="Text 55"/>
          <p:cNvSpPr/>
          <p:nvPr/>
        </p:nvSpPr>
        <p:spPr>
          <a:xfrm>
            <a:off x="6270625" y="4603750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89750" y="4603750"/>
            <a:ext cx="490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 &amp; OTT Convergence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89750" y="4889500"/>
            <a:ext cx="4889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2D2D2D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Movie release anticipation (Vettaiyan, Singham Again) and OTT platform searches (JioHotstar) show evolving content consumption patterns across theaters and streaming.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89750" y="5603875"/>
            <a:ext cx="1206500" cy="222250"/>
          </a:xfrm>
          <a:custGeom>
            <a:avLst/>
            <a:gdLst/>
            <a:ahLst/>
            <a:cxnLst/>
            <a:rect l="l" t="t" r="r" b="b"/>
            <a:pathLst>
              <a:path w="1206500" h="222250">
                <a:moveTo>
                  <a:pt x="31751" y="0"/>
                </a:moveTo>
                <a:lnTo>
                  <a:pt x="1174749" y="0"/>
                </a:lnTo>
                <a:cubicBezTo>
                  <a:pt x="1192285" y="0"/>
                  <a:pt x="1206500" y="14215"/>
                  <a:pt x="1206500" y="31751"/>
                </a:cubicBezTo>
                <a:lnTo>
                  <a:pt x="1206500" y="190499"/>
                </a:lnTo>
                <a:cubicBezTo>
                  <a:pt x="1206500" y="208035"/>
                  <a:pt x="1192285" y="222250"/>
                  <a:pt x="1174749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C75B4A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889750" y="5603875"/>
            <a:ext cx="12620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1.4M+ Entertainment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58559" y="5603875"/>
            <a:ext cx="785813" cy="222250"/>
          </a:xfrm>
          <a:custGeom>
            <a:avLst/>
            <a:gdLst/>
            <a:ahLst/>
            <a:cxnLst/>
            <a:rect l="l" t="t" r="r" b="b"/>
            <a:pathLst>
              <a:path w="785813" h="222250">
                <a:moveTo>
                  <a:pt x="31751" y="0"/>
                </a:moveTo>
                <a:lnTo>
                  <a:pt x="754062" y="0"/>
                </a:lnTo>
                <a:cubicBezTo>
                  <a:pt x="771597" y="0"/>
                  <a:pt x="785813" y="14215"/>
                  <a:pt x="785813" y="31751"/>
                </a:cubicBezTo>
                <a:lnTo>
                  <a:pt x="785813" y="190499"/>
                </a:lnTo>
                <a:cubicBezTo>
                  <a:pt x="785813" y="208035"/>
                  <a:pt x="771597" y="222250"/>
                  <a:pt x="7540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1E3A5F">
              <a:alpha val="1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158559" y="5603875"/>
            <a:ext cx="84137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OTT Growth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17500" y="6111875"/>
            <a:ext cx="11557000" cy="952500"/>
          </a:xfrm>
          <a:custGeom>
            <a:avLst/>
            <a:gdLst/>
            <a:ahLst/>
            <a:cxnLst/>
            <a:rect l="l" t="t" r="r" b="b"/>
            <a:pathLst>
              <a:path w="11557000" h="952500">
                <a:moveTo>
                  <a:pt x="63503" y="0"/>
                </a:moveTo>
                <a:lnTo>
                  <a:pt x="11493497" y="0"/>
                </a:lnTo>
                <a:cubicBezTo>
                  <a:pt x="11528569" y="0"/>
                  <a:pt x="11557000" y="28431"/>
                  <a:pt x="11557000" y="63503"/>
                </a:cubicBezTo>
                <a:lnTo>
                  <a:pt x="11557000" y="888997"/>
                </a:lnTo>
                <a:cubicBezTo>
                  <a:pt x="11557000" y="924069"/>
                  <a:pt x="11528569" y="952500"/>
                  <a:pt x="1149349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444500" y="623887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66" name="Text 64"/>
          <p:cNvSpPr/>
          <p:nvPr/>
        </p:nvSpPr>
        <p:spPr>
          <a:xfrm>
            <a:off x="396875" y="6238875"/>
            <a:ext cx="53975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16000" y="6238875"/>
            <a:ext cx="1081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News &amp; Current Affairs Maintain Steady Presence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16000" y="6524625"/>
            <a:ext cx="1079500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Despite smaller volume (730K+), news searches show consistent engagement with election updates, advisories, and current events. Information-seeking behavior remains strong across all categories.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marketer.com/94b32d214ca1910a41863af24507c3048d35e7c3.jpe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20091" b="20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5F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C75B4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95396"/>
            <a:ext cx="1514475" cy="381000"/>
          </a:xfrm>
          <a:custGeom>
            <a:avLst/>
            <a:gdLst/>
            <a:ahLst/>
            <a:cxnLst/>
            <a:rect l="l" t="t" r="r" b="b"/>
            <a:pathLst>
              <a:path w="1514475" h="381000">
                <a:moveTo>
                  <a:pt x="0" y="0"/>
                </a:moveTo>
                <a:lnTo>
                  <a:pt x="1514475" y="0"/>
                </a:lnTo>
                <a:lnTo>
                  <a:pt x="15144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295396"/>
            <a:ext cx="1590675" cy="381000"/>
          </a:xfrm>
          <a:prstGeom prst="rect">
            <a:avLst/>
          </a:prstGeom>
          <a:noFill/>
          <a:ln/>
        </p:spPr>
        <p:txBody>
          <a:bodyPr wrap="square" lIns="190500" tIns="76200" rIns="190500" bIns="7620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09796"/>
            <a:ext cx="876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Search Landscape: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5F1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Reflection of India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65759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000496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India's search behavior reveals a nation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passionate about sports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deeply rooted in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cultural traditions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increasingly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financially literate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embracing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transformation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848221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5M+ cricket match searches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1M+ Dhanteras timing queries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each search tells a story of a dynamic, diverse, and digitally-engaged population navigating the world's largest democracy.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4772146"/>
            <a:ext cx="8534400" cy="1066800"/>
          </a:xfrm>
          <a:custGeom>
            <a:avLst/>
            <a:gdLst/>
            <a:ahLst/>
            <a:cxnLst/>
            <a:rect l="l" t="t" r="r" b="b"/>
            <a:pathLst>
              <a:path w="8534400" h="1066800">
                <a:moveTo>
                  <a:pt x="76202" y="0"/>
                </a:moveTo>
                <a:lnTo>
                  <a:pt x="8458198" y="0"/>
                </a:lnTo>
                <a:cubicBezTo>
                  <a:pt x="8500283" y="0"/>
                  <a:pt x="8534400" y="34117"/>
                  <a:pt x="8534400" y="76202"/>
                </a:cubicBezTo>
                <a:lnTo>
                  <a:pt x="8534400" y="990598"/>
                </a:lnTo>
                <a:cubicBezTo>
                  <a:pt x="8534400" y="1032683"/>
                  <a:pt x="8500283" y="1066800"/>
                  <a:pt x="84581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09600" y="5000746"/>
            <a:ext cx="819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businesses and marketers, understanding these patterns is key to connecting with India's 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C75B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650M+ internet users</a:t>
            </a:r>
            <a:pPr>
              <a:lnSpc>
                <a:spcPct val="110000"/>
              </a:lnSpc>
            </a:pPr>
            <a:r>
              <a:rPr lang="en-US" sz="1800" dirty="0">
                <a:solidFill>
                  <a:srgbClr val="F5F1EB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effectively.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3863" y="631495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3" name="Text 10"/>
          <p:cNvSpPr/>
          <p:nvPr/>
        </p:nvSpPr>
        <p:spPr>
          <a:xfrm>
            <a:off x="781050" y="6295904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October 23-30, 2024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97267" y="6314954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5" name="Text 12"/>
          <p:cNvSpPr/>
          <p:nvPr/>
        </p:nvSpPr>
        <p:spPr>
          <a:xfrm>
            <a:off x="3254455" y="6295904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1,439 Topics Analyzed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29964" y="63149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75B4A"/>
          </a:solidFill>
          <a:ln/>
        </p:spPr>
      </p:sp>
      <p:sp>
        <p:nvSpPr>
          <p:cNvPr id="17" name="Text 14"/>
          <p:cNvSpPr/>
          <p:nvPr/>
        </p:nvSpPr>
        <p:spPr>
          <a:xfrm>
            <a:off x="5801439" y="6295904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F1EB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36M+ Search Volume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Search Analysis: India Trends Report</dc:title>
  <dc:subject>Google Search Analysis: India Trends Report</dc:subject>
  <dc:creator>Kimi</dc:creator>
  <cp:lastModifiedBy>Kimi</cp:lastModifiedBy>
  <cp:revision>1</cp:revision>
  <dcterms:created xsi:type="dcterms:W3CDTF">2026-02-27T20:30:00Z</dcterms:created>
  <dcterms:modified xsi:type="dcterms:W3CDTF">2026-02-27T20:30:00Z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{"Label":"Google Search Analysis: India Trends Report","ContentProducer":"001191110108MACG2KBH8F10000","ProduceID":"19ca0bdd-1d32-8ed6-8000-0000c5722fed","ReservedCode1":"","ContentPropagator":"001191110108MACG2KBH8F20000","PropagateID":"19ca0bdd-1d32-8ed6-8000-0000c5722fed","ReservedCode2":""}</vt:lpwstr>
  </property>
</Properties>
</file>